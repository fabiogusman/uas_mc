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60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Bapak/Ibu dosen. Perkenalkan, saya akan mempresentasikan proyek UAS Mobile Computing yang berjudul FitSphere: Gym Tracker &amp; Progress Log. Aplikasi ini saya kembangkan menggunakan Flutter sebagai media untuk membantu pengguna mencatat aktivitas latihan gym serta memonitor perkembangan kebugaran.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pembuatan aplikasi ini adalah masih banyak pengguna gym yang mencatat latihan secara manual. Hal tersebut membuat riwayat latihan sulit dipantau. Oleh karena itu saya membuat FitSphere sebagai aplikasi pencatatan aktivitas gym yang dapat membantu pengguna mengelola latihan secara lebih praktis.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ini memiliki beberapa fitur utama, yaitu Login dan Register sebagai autentikasi pengguna, Dashboard untuk menampilkan ringkasan aktivitas, Workout Split untuk mencatat latihan, Progress Tracker untuk memantau berat badan, Progress Photo untuk dokumentasi hasil latihan, serta Motivational Quote yang diambil dari REST API.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sisi UI saya menggunakan tema gelap dengan aksen warna emas agar sesuai dengan konsep aplikasi fitness. Layout menggunakan Card dan Material Design sehingga informasi lebih rapi. Dari sisi UX, aplikasi dibuat dengan navigasi sederhana dan tampilan yang konsisten agar pengguna mudah menggunakan setiap fitur.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Aplikasi ini dibangun menggunakan Flutter dengan bahasa Dart. Data disimpan menggunakan Hive sehingga aplikasi dapat digunakan secara offline. Provider digunakan untuk mengelola perubahan data pada aplikasi. Selain itu terdapat Image Picker untuk mengambil foto progres, HTTP untuk mengambil data Motivational Quote dari REST API, dan CustomPainter untuk menampilkan grafik perkembangan berat badan.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Beberapa konsep Mobile Computing yang saya terapkan antara lain penggunaan Flutter sebagai framework cross-platform, Hive sebagai penyimpanan data lokal, Provider untuk pengelolaan state aplikasi, integrasi REST API dan JSON Parsing, serta pemanfaatan kamera perangkat melalui Image Picker.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aplikasi dimulai dari interaksi pengguna melalui antarmuka Flutter. Data kemudian diproses oleh Provider. Selanjutnya data disimpan ke Hive atau diambil dari REST API. Setelah proses selesai, tampilan aplikasi diperbarui secara otomatis.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demo ini saya akan menunjukkan proses login, pencatatan workout, penyimpanan data ke Hive, pencatatan berat badan, grafik perkembangan berat badan, serta dokumentasi progres menggunakan kamera.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aplikasi FitSphere berhasil menerapkan konsep Mobile Computing melalui penggunaan Flutter sebagai framework pengembangan, Hive sebagai database lokal, Provider untuk state management, REST API sebagai sumber data eksternal, serta pemanfaatan kamera perangkat. Dari sisi UI dan UX, aplikasi dirancang dengan tampilan modern dan navigasi yang sederhana sehingga dapat membantu pengguna mengelola aktivitas latihan secara lebih efektif.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4.png"/><Relationship Id="rId5" Type="http://schemas.openxmlformats.org/officeDocument/2006/relationships/image" Target="../media/image8.pn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7.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pic>
        <p:nvPicPr>
          <p:cNvPr id="2" name="Image 0" descr="icons/dumbbell_gold.png"/>
          <p:cNvPicPr>
            <a:picLocks noChangeAspect="1"/>
          </p:cNvPicPr>
          <p:nvPr/>
        </p:nvPicPr>
        <p:blipFill>
          <a:blip r:embed="rId3"/>
          <a:stretch>
            <a:fillRect/>
          </a:stretch>
        </p:blipFill>
        <p:spPr>
          <a:xfrm>
            <a:off x="5591556" y="1051560"/>
            <a:ext cx="1005840" cy="1005840"/>
          </a:xfrm>
          <a:prstGeom prst="rect">
            <a:avLst/>
          </a:prstGeom>
        </p:spPr>
      </p:pic>
      <p:sp>
        <p:nvSpPr>
          <p:cNvPr id="3" name="Text 0"/>
          <p:cNvSpPr/>
          <p:nvPr/>
        </p:nvSpPr>
        <p:spPr>
          <a:xfrm>
            <a:off x="0" y="2286000"/>
            <a:ext cx="12188952" cy="914400"/>
          </a:xfrm>
          <a:prstGeom prst="rect">
            <a:avLst/>
          </a:prstGeom>
          <a:noFill/>
          <a:ln/>
        </p:spPr>
        <p:txBody>
          <a:bodyPr wrap="square" lIns="0" tIns="0" rIns="0" bIns="0" rtlCol="0" anchor="ctr"/>
          <a:lstStyle/>
          <a:p>
            <a:pPr marL="0" indent="0" algn="ctr">
              <a:buNone/>
            </a:pPr>
            <a:r>
              <a:rPr lang="en-US" sz="5400" b="1" kern="0" spc="400" dirty="0">
                <a:solidFill>
                  <a:srgbClr val="FFFFFF"/>
                </a:solidFill>
                <a:latin typeface="Cambria" pitchFamily="34" charset="0"/>
                <a:ea typeface="Cambria" pitchFamily="34" charset="-122"/>
                <a:cs typeface="Cambria" pitchFamily="34" charset="-120"/>
              </a:rPr>
              <a:t>FITSPHERE</a:t>
            </a:r>
            <a:endParaRPr lang="en-US" sz="5400" dirty="0"/>
          </a:p>
        </p:txBody>
      </p:sp>
      <p:sp>
        <p:nvSpPr>
          <p:cNvPr id="4" name="Text 1"/>
          <p:cNvSpPr/>
          <p:nvPr/>
        </p:nvSpPr>
        <p:spPr>
          <a:xfrm>
            <a:off x="0" y="3154680"/>
            <a:ext cx="12188952" cy="457200"/>
          </a:xfrm>
          <a:prstGeom prst="rect">
            <a:avLst/>
          </a:prstGeom>
          <a:noFill/>
          <a:ln/>
        </p:spPr>
        <p:txBody>
          <a:bodyPr wrap="square" lIns="0" tIns="0" rIns="0" bIns="0" rtlCol="0" anchor="ctr"/>
          <a:lstStyle/>
          <a:p>
            <a:pPr marL="0" indent="0" algn="ctr">
              <a:buNone/>
            </a:pPr>
            <a:r>
              <a:rPr lang="en-US" sz="1800" i="1" dirty="0">
                <a:solidFill>
                  <a:srgbClr val="FFC300"/>
                </a:solidFill>
                <a:latin typeface="Calibri" pitchFamily="34" charset="0"/>
                <a:ea typeface="Calibri" pitchFamily="34" charset="-122"/>
                <a:cs typeface="Calibri" pitchFamily="34" charset="-120"/>
              </a:rPr>
              <a:t>Gym Tracker &amp; Progress Log</a:t>
            </a:r>
            <a:endParaRPr lang="en-US" sz="1800" dirty="0"/>
          </a:p>
        </p:txBody>
      </p:sp>
      <p:sp>
        <p:nvSpPr>
          <p:cNvPr id="5" name="Shape 2"/>
          <p:cNvSpPr/>
          <p:nvPr/>
        </p:nvSpPr>
        <p:spPr>
          <a:xfrm>
            <a:off x="4997196" y="3794760"/>
            <a:ext cx="2194560" cy="0"/>
          </a:xfrm>
          <a:prstGeom prst="line">
            <a:avLst/>
          </a:prstGeom>
          <a:noFill/>
          <a:ln w="12700">
            <a:solidFill>
              <a:srgbClr val="3A3A3A"/>
            </a:solidFill>
            <a:prstDash val="solid"/>
          </a:ln>
        </p:spPr>
      </p:sp>
      <p:sp>
        <p:nvSpPr>
          <p:cNvPr id="6" name="Text 3"/>
          <p:cNvSpPr/>
          <p:nvPr/>
        </p:nvSpPr>
        <p:spPr>
          <a:xfrm>
            <a:off x="0" y="3977640"/>
            <a:ext cx="12188952" cy="640080"/>
          </a:xfrm>
          <a:prstGeom prst="rect">
            <a:avLst/>
          </a:prstGeom>
          <a:noFill/>
          <a:ln/>
        </p:spPr>
        <p:txBody>
          <a:bodyPr wrap="square" lIns="0" tIns="0" rIns="0" bIns="0" rtlCol="0" anchor="ctr"/>
          <a:lstStyle/>
          <a:p>
            <a:pPr marL="0" indent="0" algn="ctr">
              <a:buNone/>
            </a:pPr>
            <a:r>
              <a:rPr lang="en-US" sz="1300" dirty="0">
                <a:solidFill>
                  <a:srgbClr val="C9C9C9"/>
                </a:solidFill>
                <a:latin typeface="Calibri" pitchFamily="34" charset="0"/>
                <a:ea typeface="Calibri" pitchFamily="34" charset="-122"/>
                <a:cs typeface="Calibri" pitchFamily="34" charset="-120"/>
              </a:rPr>
              <a:t>Analisis UI/UX dan Implementasi Teknologi Flutter</a:t>
            </a:r>
            <a:endParaRPr lang="en-US" sz="1300" dirty="0"/>
          </a:p>
          <a:p>
            <a:pPr marL="0" indent="0" algn="ctr">
              <a:buNone/>
            </a:pPr>
            <a:r>
              <a:rPr lang="en-US" sz="1300" dirty="0">
                <a:solidFill>
                  <a:srgbClr val="C9C9C9"/>
                </a:solidFill>
                <a:latin typeface="Calibri" pitchFamily="34" charset="0"/>
                <a:ea typeface="Calibri" pitchFamily="34" charset="-122"/>
                <a:cs typeface="Calibri" pitchFamily="34" charset="-120"/>
              </a:rPr>
              <a:t>Presentasi UAS Mobile Computing</a:t>
            </a:r>
            <a:endParaRPr lang="en-US" sz="1300" dirty="0"/>
          </a:p>
        </p:txBody>
      </p:sp>
      <p:sp>
        <p:nvSpPr>
          <p:cNvPr id="7" name="Text 4"/>
          <p:cNvSpPr/>
          <p:nvPr/>
        </p:nvSpPr>
        <p:spPr>
          <a:xfrm>
            <a:off x="0" y="5120640"/>
            <a:ext cx="12188952" cy="1097280"/>
          </a:xfrm>
          <a:prstGeom prst="rect">
            <a:avLst/>
          </a:prstGeom>
          <a:noFill/>
          <a:ln/>
        </p:spPr>
        <p:txBody>
          <a:bodyPr wrap="square" lIns="0" tIns="0" rIns="0" bIns="0" rtlCol="0" anchor="ctr"/>
          <a:lstStyle/>
          <a:p>
            <a:pPr marL="0" indent="0" algn="ctr">
              <a:lnSpc>
                <a:spcPct val="130000"/>
              </a:lnSpc>
              <a:buNone/>
            </a:pPr>
            <a:r>
              <a:rPr lang="en-US" sz="1300" b="1" dirty="0">
                <a:solidFill>
                  <a:srgbClr val="FFFFFF"/>
                </a:solidFill>
                <a:latin typeface="Calibri" pitchFamily="34" charset="0"/>
                <a:ea typeface="Calibri" pitchFamily="34" charset="-122"/>
                <a:cs typeface="Calibri" pitchFamily="34" charset="-120"/>
              </a:rPr>
              <a:t>Nama: Fabio Gusman Firdaus</a:t>
            </a:r>
            <a:endParaRPr lang="en-US" sz="1300" dirty="0"/>
          </a:p>
          <a:p>
            <a:pPr marL="0" indent="0" algn="ctr">
              <a:lnSpc>
                <a:spcPct val="130000"/>
              </a:lnSpc>
              <a:buNone/>
            </a:pPr>
            <a:r>
              <a:rPr lang="en-US" sz="1300" b="1" dirty="0">
                <a:solidFill>
                  <a:srgbClr val="FFFFFF"/>
                </a:solidFill>
                <a:latin typeface="Calibri" pitchFamily="34" charset="0"/>
                <a:ea typeface="Calibri" pitchFamily="34" charset="-122"/>
                <a:cs typeface="Calibri" pitchFamily="34" charset="-120"/>
              </a:rPr>
              <a:t>NIM: 24110400027</a:t>
            </a:r>
            <a:endParaRPr lang="en-US" sz="1300" dirty="0"/>
          </a:p>
          <a:p>
            <a:pPr marL="0" indent="0" algn="ctr">
              <a:lnSpc>
                <a:spcPct val="130000"/>
              </a:lnSpc>
              <a:buNone/>
            </a:pPr>
            <a:r>
              <a:rPr lang="en-US" sz="1300" dirty="0">
                <a:solidFill>
                  <a:srgbClr val="A0A0A0"/>
                </a:solidFill>
                <a:latin typeface="Calibri" pitchFamily="34" charset="0"/>
                <a:ea typeface="Calibri" pitchFamily="34" charset="-122"/>
                <a:cs typeface="Calibri" pitchFamily="34" charset="-120"/>
              </a:rPr>
              <a:t>Mata Kuliah: Mobile Computing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Latar Belakang</a:t>
            </a:r>
            <a:endParaRPr lang="en-US" sz="3200" dirty="0"/>
          </a:p>
        </p:txBody>
      </p:sp>
      <p:sp>
        <p:nvSpPr>
          <p:cNvPr id="3" name="Shape 1"/>
          <p:cNvSpPr/>
          <p:nvPr/>
        </p:nvSpPr>
        <p:spPr>
          <a:xfrm>
            <a:off x="548640" y="1554480"/>
            <a:ext cx="5120640" cy="4480560"/>
          </a:xfrm>
          <a:prstGeom prst="roundRect">
            <a:avLst>
              <a:gd name="adj" fmla="val 2449"/>
            </a:avLst>
          </a:prstGeom>
          <a:solidFill>
            <a:srgbClr val="1E1E1E"/>
          </a:solidFill>
          <a:ln/>
          <a:effectLst>
            <a:outerShdw blurRad="101600" dist="38100" dir="2700000" algn="bl" rotWithShape="0">
              <a:srgbClr val="000000">
                <a:alpha val="35000"/>
              </a:srgbClr>
            </a:outerShdw>
          </a:effectLst>
        </p:spPr>
      </p:sp>
      <p:sp>
        <p:nvSpPr>
          <p:cNvPr id="4" name="Text 2"/>
          <p:cNvSpPr/>
          <p:nvPr/>
        </p:nvSpPr>
        <p:spPr>
          <a:xfrm>
            <a:off x="868680" y="1783080"/>
            <a:ext cx="4572000" cy="365760"/>
          </a:xfrm>
          <a:prstGeom prst="rect">
            <a:avLst/>
          </a:prstGeom>
          <a:noFill/>
          <a:ln/>
        </p:spPr>
        <p:txBody>
          <a:bodyPr wrap="square" lIns="0" tIns="0" rIns="0" bIns="0" rtlCol="0" anchor="ctr"/>
          <a:lstStyle/>
          <a:p>
            <a:pPr marL="0" indent="0">
              <a:buNone/>
            </a:pPr>
            <a:r>
              <a:rPr lang="en-US" sz="1600" b="1" dirty="0">
                <a:solidFill>
                  <a:srgbClr val="FFC300"/>
                </a:solidFill>
                <a:latin typeface="Cambria" pitchFamily="34" charset="0"/>
                <a:ea typeface="Cambria" pitchFamily="34" charset="-122"/>
                <a:cs typeface="Cambria" pitchFamily="34" charset="-120"/>
              </a:rPr>
              <a:t>Masalah</a:t>
            </a:r>
            <a:endParaRPr lang="en-US" sz="1600" dirty="0"/>
          </a:p>
        </p:txBody>
      </p:sp>
      <p:sp>
        <p:nvSpPr>
          <p:cNvPr id="5" name="Text 3"/>
          <p:cNvSpPr/>
          <p:nvPr/>
        </p:nvSpPr>
        <p:spPr>
          <a:xfrm>
            <a:off x="868680" y="2286000"/>
            <a:ext cx="4480560" cy="3474720"/>
          </a:xfrm>
          <a:prstGeom prst="rect">
            <a:avLst/>
          </a:prstGeom>
          <a:noFill/>
          <a:ln/>
        </p:spPr>
        <p:txBody>
          <a:bodyPr wrap="square" lIns="0" tIns="0" rIns="0" bIns="0" rtlCol="0" anchor="ctr"/>
          <a:lstStyle/>
          <a:p>
            <a:pPr marL="0" indent="0">
              <a:lnSpc>
                <a:spcPct val="130000"/>
              </a:lnSpc>
              <a:buNone/>
            </a:pPr>
            <a:r>
              <a:rPr lang="en-US" sz="1500" dirty="0">
                <a:solidFill>
                  <a:srgbClr val="C9C9C9"/>
                </a:solidFill>
                <a:latin typeface="Calibri" pitchFamily="34" charset="0"/>
                <a:ea typeface="Calibri" pitchFamily="34" charset="-122"/>
                <a:cs typeface="Calibri" pitchFamily="34" charset="-120"/>
              </a:rPr>
              <a:t>Banyak pengguna gym masih mencatat latihan secara manual sehingga data latihan mudah hilang dan sulit dipantau perkembangannya dari waktu ke waktu.</a:t>
            </a:r>
            <a:endParaRPr lang="en-US" sz="1500" dirty="0"/>
          </a:p>
        </p:txBody>
      </p:sp>
      <p:sp>
        <p:nvSpPr>
          <p:cNvPr id="6" name="Shape 4"/>
          <p:cNvSpPr/>
          <p:nvPr/>
        </p:nvSpPr>
        <p:spPr>
          <a:xfrm>
            <a:off x="6035040" y="1554480"/>
            <a:ext cx="5577840" cy="4480560"/>
          </a:xfrm>
          <a:prstGeom prst="roundRect">
            <a:avLst>
              <a:gd name="adj" fmla="val 2449"/>
            </a:avLst>
          </a:prstGeom>
          <a:solidFill>
            <a:srgbClr val="1E1E1E"/>
          </a:solidFill>
          <a:ln/>
          <a:effectLst>
            <a:outerShdw blurRad="101600" dist="38100" dir="2700000" algn="bl" rotWithShape="0">
              <a:srgbClr val="000000">
                <a:alpha val="35000"/>
              </a:srgbClr>
            </a:outerShdw>
          </a:effectLst>
        </p:spPr>
      </p:sp>
      <p:sp>
        <p:nvSpPr>
          <p:cNvPr id="7" name="Text 5"/>
          <p:cNvSpPr/>
          <p:nvPr/>
        </p:nvSpPr>
        <p:spPr>
          <a:xfrm>
            <a:off x="6355080" y="1783080"/>
            <a:ext cx="4937760" cy="365760"/>
          </a:xfrm>
          <a:prstGeom prst="rect">
            <a:avLst/>
          </a:prstGeom>
          <a:noFill/>
          <a:ln/>
        </p:spPr>
        <p:txBody>
          <a:bodyPr wrap="square" lIns="0" tIns="0" rIns="0" bIns="0" rtlCol="0" anchor="ctr"/>
          <a:lstStyle/>
          <a:p>
            <a:pPr marL="0" indent="0">
              <a:buNone/>
            </a:pPr>
            <a:r>
              <a:rPr lang="en-US" sz="1600" b="1" dirty="0">
                <a:solidFill>
                  <a:srgbClr val="FFC300"/>
                </a:solidFill>
                <a:latin typeface="Cambria" pitchFamily="34" charset="0"/>
                <a:ea typeface="Cambria" pitchFamily="34" charset="-122"/>
                <a:cs typeface="Cambria" pitchFamily="34" charset="-120"/>
              </a:rPr>
              <a:t>Solusi: FitSphere</a:t>
            </a:r>
            <a:endParaRPr lang="en-US" sz="1600" dirty="0"/>
          </a:p>
        </p:txBody>
      </p:sp>
      <p:pic>
        <p:nvPicPr>
          <p:cNvPr id="8" name="Image 0" descr="icons/clipboard_gold.png"/>
          <p:cNvPicPr>
            <a:picLocks noChangeAspect="1"/>
          </p:cNvPicPr>
          <p:nvPr/>
        </p:nvPicPr>
        <p:blipFill>
          <a:blip r:embed="rId3"/>
          <a:stretch>
            <a:fillRect/>
          </a:stretch>
        </p:blipFill>
        <p:spPr>
          <a:xfrm>
            <a:off x="6355080" y="2377440"/>
            <a:ext cx="365760" cy="365760"/>
          </a:xfrm>
          <a:prstGeom prst="rect">
            <a:avLst/>
          </a:prstGeom>
        </p:spPr>
      </p:pic>
      <p:sp>
        <p:nvSpPr>
          <p:cNvPr id="9" name="Text 6"/>
          <p:cNvSpPr/>
          <p:nvPr/>
        </p:nvSpPr>
        <p:spPr>
          <a:xfrm>
            <a:off x="6903720" y="2322576"/>
            <a:ext cx="4480560" cy="50292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Mencatat workout harian</a:t>
            </a:r>
            <a:endParaRPr lang="en-US" sz="1450" dirty="0"/>
          </a:p>
        </p:txBody>
      </p:sp>
      <p:pic>
        <p:nvPicPr>
          <p:cNvPr id="10" name="Image 1" descr="icons/chart_gold.png"/>
          <p:cNvPicPr>
            <a:picLocks noChangeAspect="1"/>
          </p:cNvPicPr>
          <p:nvPr/>
        </p:nvPicPr>
        <p:blipFill>
          <a:blip r:embed="rId4"/>
          <a:stretch>
            <a:fillRect/>
          </a:stretch>
        </p:blipFill>
        <p:spPr>
          <a:xfrm>
            <a:off x="6355080" y="3246120"/>
            <a:ext cx="365760" cy="365760"/>
          </a:xfrm>
          <a:prstGeom prst="rect">
            <a:avLst/>
          </a:prstGeom>
        </p:spPr>
      </p:pic>
      <p:sp>
        <p:nvSpPr>
          <p:cNvPr id="11" name="Text 7"/>
          <p:cNvSpPr/>
          <p:nvPr/>
        </p:nvSpPr>
        <p:spPr>
          <a:xfrm>
            <a:off x="6903720" y="3191256"/>
            <a:ext cx="4480560" cy="50292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Memonitor perkembangan berat badan</a:t>
            </a:r>
            <a:endParaRPr lang="en-US" sz="1450" dirty="0"/>
          </a:p>
        </p:txBody>
      </p:sp>
      <p:pic>
        <p:nvPicPr>
          <p:cNvPr id="12" name="Image 2" descr="icons/camera_gold.png"/>
          <p:cNvPicPr>
            <a:picLocks noChangeAspect="1"/>
          </p:cNvPicPr>
          <p:nvPr/>
        </p:nvPicPr>
        <p:blipFill>
          <a:blip r:embed="rId5"/>
          <a:stretch>
            <a:fillRect/>
          </a:stretch>
        </p:blipFill>
        <p:spPr>
          <a:xfrm>
            <a:off x="6355080" y="4114800"/>
            <a:ext cx="365760" cy="365760"/>
          </a:xfrm>
          <a:prstGeom prst="rect">
            <a:avLst/>
          </a:prstGeom>
        </p:spPr>
      </p:pic>
      <p:sp>
        <p:nvSpPr>
          <p:cNvPr id="13" name="Text 8"/>
          <p:cNvSpPr/>
          <p:nvPr/>
        </p:nvSpPr>
        <p:spPr>
          <a:xfrm>
            <a:off x="6903720" y="4059936"/>
            <a:ext cx="4480560" cy="50292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Menyimpan dokumentasi progres tubuh</a:t>
            </a:r>
            <a:endParaRPr lang="en-US" sz="1450" dirty="0"/>
          </a:p>
        </p:txBody>
      </p:sp>
      <p:pic>
        <p:nvPicPr>
          <p:cNvPr id="14" name="Image 3" descr="icons/quote_gold.png"/>
          <p:cNvPicPr>
            <a:picLocks noChangeAspect="1"/>
          </p:cNvPicPr>
          <p:nvPr/>
        </p:nvPicPr>
        <p:blipFill>
          <a:blip r:embed="rId6"/>
          <a:stretch>
            <a:fillRect/>
          </a:stretch>
        </p:blipFill>
        <p:spPr>
          <a:xfrm>
            <a:off x="6355080" y="4983480"/>
            <a:ext cx="365760" cy="365760"/>
          </a:xfrm>
          <a:prstGeom prst="rect">
            <a:avLst/>
          </a:prstGeom>
        </p:spPr>
      </p:pic>
      <p:sp>
        <p:nvSpPr>
          <p:cNvPr id="15" name="Text 9"/>
          <p:cNvSpPr/>
          <p:nvPr/>
        </p:nvSpPr>
        <p:spPr>
          <a:xfrm>
            <a:off x="6903720" y="4928616"/>
            <a:ext cx="4480560" cy="50292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Memberikan motivasi latihan</a:t>
            </a:r>
            <a:endParaRPr lang="en-US" sz="1450" dirty="0"/>
          </a:p>
        </p:txBody>
      </p:sp>
      <p:sp>
        <p:nvSpPr>
          <p:cNvPr id="16" name="Text 10"/>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17" name="Text 11"/>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Fitur Aplikasi</a:t>
            </a:r>
            <a:endParaRPr lang="en-US" sz="3200" dirty="0"/>
          </a:p>
        </p:txBody>
      </p:sp>
      <p:sp>
        <p:nvSpPr>
          <p:cNvPr id="3" name="Shape 1"/>
          <p:cNvSpPr/>
          <p:nvPr/>
        </p:nvSpPr>
        <p:spPr>
          <a:xfrm>
            <a:off x="493776" y="1517904"/>
            <a:ext cx="2043684" cy="4407408"/>
          </a:xfrm>
          <a:prstGeom prst="roundRect">
            <a:avLst>
              <a:gd name="adj" fmla="val 6711"/>
            </a:avLst>
          </a:prstGeom>
          <a:solidFill>
            <a:srgbClr val="252525"/>
          </a:solidFill>
          <a:ln/>
          <a:effectLst>
            <a:outerShdw blurRad="101600" dist="38100" dir="2700000" algn="bl" rotWithShape="0">
              <a:srgbClr val="000000">
                <a:alpha val="35000"/>
              </a:srgbClr>
            </a:outerShdw>
          </a:effectLst>
        </p:spPr>
      </p:sp>
      <p:pic>
        <p:nvPicPr>
          <p:cNvPr id="4" name="Image 0" descr="images/1783530015775_image.png"/>
          <p:cNvPicPr>
            <a:picLocks noChangeAspect="1"/>
          </p:cNvPicPr>
          <p:nvPr/>
        </p:nvPicPr>
        <p:blipFill>
          <a:blip r:embed="rId3"/>
          <a:stretch>
            <a:fillRect/>
          </a:stretch>
        </p:blipFill>
        <p:spPr>
          <a:xfrm>
            <a:off x="548640" y="1572768"/>
            <a:ext cx="1933956" cy="4297680"/>
          </a:xfrm>
          <a:prstGeom prst="rect">
            <a:avLst/>
          </a:prstGeom>
        </p:spPr>
      </p:pic>
      <p:sp>
        <p:nvSpPr>
          <p:cNvPr id="5" name="Shape 2"/>
          <p:cNvSpPr/>
          <p:nvPr/>
        </p:nvSpPr>
        <p:spPr>
          <a:xfrm>
            <a:off x="2747772" y="1517904"/>
            <a:ext cx="2043684" cy="4407408"/>
          </a:xfrm>
          <a:prstGeom prst="roundRect">
            <a:avLst>
              <a:gd name="adj" fmla="val 6711"/>
            </a:avLst>
          </a:prstGeom>
          <a:solidFill>
            <a:srgbClr val="252525"/>
          </a:solidFill>
          <a:ln/>
          <a:effectLst>
            <a:outerShdw blurRad="101600" dist="38100" dir="2700000" algn="bl" rotWithShape="0">
              <a:srgbClr val="000000">
                <a:alpha val="35000"/>
              </a:srgbClr>
            </a:outerShdw>
          </a:effectLst>
        </p:spPr>
      </p:sp>
      <p:pic>
        <p:nvPicPr>
          <p:cNvPr id="6" name="Image 1" descr="images/1783530040541_image.png"/>
          <p:cNvPicPr>
            <a:picLocks noChangeAspect="1"/>
          </p:cNvPicPr>
          <p:nvPr/>
        </p:nvPicPr>
        <p:blipFill>
          <a:blip r:embed="rId4"/>
          <a:stretch>
            <a:fillRect/>
          </a:stretch>
        </p:blipFill>
        <p:spPr>
          <a:xfrm>
            <a:off x="2802636" y="1572768"/>
            <a:ext cx="1933956" cy="4297680"/>
          </a:xfrm>
          <a:prstGeom prst="rect">
            <a:avLst/>
          </a:prstGeom>
        </p:spPr>
      </p:pic>
      <p:sp>
        <p:nvSpPr>
          <p:cNvPr id="7" name="Shape 3"/>
          <p:cNvSpPr/>
          <p:nvPr/>
        </p:nvSpPr>
        <p:spPr>
          <a:xfrm>
            <a:off x="5001768" y="1517904"/>
            <a:ext cx="2043684" cy="4407408"/>
          </a:xfrm>
          <a:prstGeom prst="roundRect">
            <a:avLst>
              <a:gd name="adj" fmla="val 6711"/>
            </a:avLst>
          </a:prstGeom>
          <a:solidFill>
            <a:srgbClr val="252525"/>
          </a:solidFill>
          <a:ln/>
          <a:effectLst>
            <a:outerShdw blurRad="101600" dist="38100" dir="2700000" algn="bl" rotWithShape="0">
              <a:srgbClr val="000000">
                <a:alpha val="35000"/>
              </a:srgbClr>
            </a:outerShdw>
          </a:effectLst>
        </p:spPr>
      </p:sp>
      <p:pic>
        <p:nvPicPr>
          <p:cNvPr id="8" name="Image 2" descr="images/1783530081679_image.png"/>
          <p:cNvPicPr>
            <a:picLocks noChangeAspect="1"/>
          </p:cNvPicPr>
          <p:nvPr/>
        </p:nvPicPr>
        <p:blipFill>
          <a:blip r:embed="rId5"/>
          <a:stretch>
            <a:fillRect/>
          </a:stretch>
        </p:blipFill>
        <p:spPr>
          <a:xfrm>
            <a:off x="5056632" y="1572768"/>
            <a:ext cx="1933956" cy="4297680"/>
          </a:xfrm>
          <a:prstGeom prst="rect">
            <a:avLst/>
          </a:prstGeom>
        </p:spPr>
      </p:pic>
      <p:pic>
        <p:nvPicPr>
          <p:cNvPr id="9" name="Image 3" descr="icons/signin_gold.png"/>
          <p:cNvPicPr>
            <a:picLocks noChangeAspect="1"/>
          </p:cNvPicPr>
          <p:nvPr/>
        </p:nvPicPr>
        <p:blipFill>
          <a:blip r:embed="rId6"/>
          <a:stretch>
            <a:fillRect/>
          </a:stretch>
        </p:blipFill>
        <p:spPr>
          <a:xfrm>
            <a:off x="7447788" y="1655064"/>
            <a:ext cx="310896" cy="310896"/>
          </a:xfrm>
          <a:prstGeom prst="rect">
            <a:avLst/>
          </a:prstGeom>
        </p:spPr>
      </p:pic>
      <p:sp>
        <p:nvSpPr>
          <p:cNvPr id="10" name="Text 4"/>
          <p:cNvSpPr/>
          <p:nvPr/>
        </p:nvSpPr>
        <p:spPr>
          <a:xfrm>
            <a:off x="7904988" y="1600200"/>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Login</a:t>
            </a:r>
            <a:endParaRPr lang="en-US" sz="1500" dirty="0"/>
          </a:p>
        </p:txBody>
      </p:sp>
      <p:pic>
        <p:nvPicPr>
          <p:cNvPr id="11" name="Image 4" descr="icons/userplus_gold.png"/>
          <p:cNvPicPr>
            <a:picLocks noChangeAspect="1"/>
          </p:cNvPicPr>
          <p:nvPr/>
        </p:nvPicPr>
        <p:blipFill>
          <a:blip r:embed="rId7"/>
          <a:stretch>
            <a:fillRect/>
          </a:stretch>
        </p:blipFill>
        <p:spPr>
          <a:xfrm>
            <a:off x="7447788" y="2221992"/>
            <a:ext cx="310896" cy="310896"/>
          </a:xfrm>
          <a:prstGeom prst="rect">
            <a:avLst/>
          </a:prstGeom>
        </p:spPr>
      </p:pic>
      <p:sp>
        <p:nvSpPr>
          <p:cNvPr id="12" name="Text 5"/>
          <p:cNvSpPr/>
          <p:nvPr/>
        </p:nvSpPr>
        <p:spPr>
          <a:xfrm>
            <a:off x="7904988" y="2167128"/>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Register</a:t>
            </a:r>
            <a:endParaRPr lang="en-US" sz="1500" dirty="0"/>
          </a:p>
        </p:txBody>
      </p:sp>
      <p:pic>
        <p:nvPicPr>
          <p:cNvPr id="13" name="Image 5" descr="icons/dashboard_gold.png"/>
          <p:cNvPicPr>
            <a:picLocks noChangeAspect="1"/>
          </p:cNvPicPr>
          <p:nvPr/>
        </p:nvPicPr>
        <p:blipFill>
          <a:blip r:embed="rId8"/>
          <a:stretch>
            <a:fillRect/>
          </a:stretch>
        </p:blipFill>
        <p:spPr>
          <a:xfrm>
            <a:off x="7447788" y="2788920"/>
            <a:ext cx="310896" cy="310896"/>
          </a:xfrm>
          <a:prstGeom prst="rect">
            <a:avLst/>
          </a:prstGeom>
        </p:spPr>
      </p:pic>
      <p:sp>
        <p:nvSpPr>
          <p:cNvPr id="14" name="Text 6"/>
          <p:cNvSpPr/>
          <p:nvPr/>
        </p:nvSpPr>
        <p:spPr>
          <a:xfrm>
            <a:off x="7904988" y="2734056"/>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Dashboard</a:t>
            </a:r>
            <a:endParaRPr lang="en-US" sz="1500" dirty="0"/>
          </a:p>
        </p:txBody>
      </p:sp>
      <p:pic>
        <p:nvPicPr>
          <p:cNvPr id="15" name="Image 6" descr="icons/dumbbell_gold.png"/>
          <p:cNvPicPr>
            <a:picLocks noChangeAspect="1"/>
          </p:cNvPicPr>
          <p:nvPr/>
        </p:nvPicPr>
        <p:blipFill>
          <a:blip r:embed="rId9"/>
          <a:stretch>
            <a:fillRect/>
          </a:stretch>
        </p:blipFill>
        <p:spPr>
          <a:xfrm>
            <a:off x="7447788" y="3355848"/>
            <a:ext cx="310896" cy="310896"/>
          </a:xfrm>
          <a:prstGeom prst="rect">
            <a:avLst/>
          </a:prstGeom>
        </p:spPr>
      </p:pic>
      <p:sp>
        <p:nvSpPr>
          <p:cNvPr id="16" name="Text 7"/>
          <p:cNvSpPr/>
          <p:nvPr/>
        </p:nvSpPr>
        <p:spPr>
          <a:xfrm>
            <a:off x="7904988" y="3300984"/>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Workout Split</a:t>
            </a:r>
            <a:endParaRPr lang="en-US" sz="1500" dirty="0"/>
          </a:p>
        </p:txBody>
      </p:sp>
      <p:pic>
        <p:nvPicPr>
          <p:cNvPr id="17" name="Image 7" descr="icons/chart_gold.png"/>
          <p:cNvPicPr>
            <a:picLocks noChangeAspect="1"/>
          </p:cNvPicPr>
          <p:nvPr/>
        </p:nvPicPr>
        <p:blipFill>
          <a:blip r:embed="rId10"/>
          <a:stretch>
            <a:fillRect/>
          </a:stretch>
        </p:blipFill>
        <p:spPr>
          <a:xfrm>
            <a:off x="7447788" y="3922776"/>
            <a:ext cx="310896" cy="310896"/>
          </a:xfrm>
          <a:prstGeom prst="rect">
            <a:avLst/>
          </a:prstGeom>
        </p:spPr>
      </p:pic>
      <p:sp>
        <p:nvSpPr>
          <p:cNvPr id="18" name="Text 8"/>
          <p:cNvSpPr/>
          <p:nvPr/>
        </p:nvSpPr>
        <p:spPr>
          <a:xfrm>
            <a:off x="7904988" y="3867912"/>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Progress Tracker</a:t>
            </a:r>
            <a:endParaRPr lang="en-US" sz="1500" dirty="0"/>
          </a:p>
        </p:txBody>
      </p:sp>
      <p:pic>
        <p:nvPicPr>
          <p:cNvPr id="19" name="Image 8" descr="icons/camera_gold.png"/>
          <p:cNvPicPr>
            <a:picLocks noChangeAspect="1"/>
          </p:cNvPicPr>
          <p:nvPr/>
        </p:nvPicPr>
        <p:blipFill>
          <a:blip r:embed="rId11"/>
          <a:stretch>
            <a:fillRect/>
          </a:stretch>
        </p:blipFill>
        <p:spPr>
          <a:xfrm>
            <a:off x="7447788" y="4489704"/>
            <a:ext cx="310896" cy="310896"/>
          </a:xfrm>
          <a:prstGeom prst="rect">
            <a:avLst/>
          </a:prstGeom>
        </p:spPr>
      </p:pic>
      <p:sp>
        <p:nvSpPr>
          <p:cNvPr id="20" name="Text 9"/>
          <p:cNvSpPr/>
          <p:nvPr/>
        </p:nvSpPr>
        <p:spPr>
          <a:xfrm>
            <a:off x="7904988" y="4434840"/>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Progress Photo</a:t>
            </a:r>
            <a:endParaRPr lang="en-US" sz="1500" dirty="0"/>
          </a:p>
        </p:txBody>
      </p:sp>
      <p:pic>
        <p:nvPicPr>
          <p:cNvPr id="21" name="Image 9" descr="icons/quote_gold.png"/>
          <p:cNvPicPr>
            <a:picLocks noChangeAspect="1"/>
          </p:cNvPicPr>
          <p:nvPr/>
        </p:nvPicPr>
        <p:blipFill>
          <a:blip r:embed="rId12"/>
          <a:stretch>
            <a:fillRect/>
          </a:stretch>
        </p:blipFill>
        <p:spPr>
          <a:xfrm>
            <a:off x="7447788" y="5056632"/>
            <a:ext cx="310896" cy="310896"/>
          </a:xfrm>
          <a:prstGeom prst="rect">
            <a:avLst/>
          </a:prstGeom>
        </p:spPr>
      </p:pic>
      <p:sp>
        <p:nvSpPr>
          <p:cNvPr id="22" name="Text 10"/>
          <p:cNvSpPr/>
          <p:nvPr/>
        </p:nvSpPr>
        <p:spPr>
          <a:xfrm>
            <a:off x="7904988" y="5001768"/>
            <a:ext cx="3735324"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Motivational Quote</a:t>
            </a:r>
            <a:endParaRPr lang="en-US" sz="1500" dirty="0"/>
          </a:p>
        </p:txBody>
      </p:sp>
      <p:sp>
        <p:nvSpPr>
          <p:cNvPr id="23" name="Text 11"/>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24" name="Text 12"/>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Analisis UI &amp; UX</a:t>
            </a:r>
            <a:endParaRPr lang="en-US" sz="3200" dirty="0"/>
          </a:p>
        </p:txBody>
      </p:sp>
      <p:sp>
        <p:nvSpPr>
          <p:cNvPr id="3" name="Shape 1"/>
          <p:cNvSpPr/>
          <p:nvPr/>
        </p:nvSpPr>
        <p:spPr>
          <a:xfrm>
            <a:off x="548640" y="1554480"/>
            <a:ext cx="5394960" cy="4480560"/>
          </a:xfrm>
          <a:prstGeom prst="roundRect">
            <a:avLst>
              <a:gd name="adj" fmla="val 2449"/>
            </a:avLst>
          </a:prstGeom>
          <a:solidFill>
            <a:srgbClr val="1E1E1E"/>
          </a:solidFill>
          <a:ln/>
          <a:effectLst>
            <a:outerShdw blurRad="101600" dist="38100" dir="2700000" algn="bl" rotWithShape="0">
              <a:srgbClr val="000000">
                <a:alpha val="35000"/>
              </a:srgbClr>
            </a:outerShdw>
          </a:effectLst>
        </p:spPr>
      </p:sp>
      <p:pic>
        <p:nvPicPr>
          <p:cNvPr id="4" name="Image 0" descr="icons/palette_gold.png"/>
          <p:cNvPicPr>
            <a:picLocks noChangeAspect="1"/>
          </p:cNvPicPr>
          <p:nvPr/>
        </p:nvPicPr>
        <p:blipFill>
          <a:blip r:embed="rId3"/>
          <a:stretch>
            <a:fillRect/>
          </a:stretch>
        </p:blipFill>
        <p:spPr>
          <a:xfrm>
            <a:off x="868680" y="1783080"/>
            <a:ext cx="384048" cy="384048"/>
          </a:xfrm>
          <a:prstGeom prst="rect">
            <a:avLst/>
          </a:prstGeom>
        </p:spPr>
      </p:pic>
      <p:sp>
        <p:nvSpPr>
          <p:cNvPr id="5" name="Text 2"/>
          <p:cNvSpPr/>
          <p:nvPr/>
        </p:nvSpPr>
        <p:spPr>
          <a:xfrm>
            <a:off x="1371600" y="1783080"/>
            <a:ext cx="4297680" cy="384048"/>
          </a:xfrm>
          <a:prstGeom prst="rect">
            <a:avLst/>
          </a:prstGeom>
          <a:noFill/>
          <a:ln/>
        </p:spPr>
        <p:txBody>
          <a:bodyPr wrap="square" lIns="0" tIns="0" rIns="0" bIns="0" rtlCol="0" anchor="ctr"/>
          <a:lstStyle/>
          <a:p>
            <a:pPr marL="0" indent="0">
              <a:buNone/>
            </a:pPr>
            <a:r>
              <a:rPr lang="en-US" sz="1700" b="1" dirty="0">
                <a:solidFill>
                  <a:srgbClr val="FFC300"/>
                </a:solidFill>
                <a:latin typeface="Cambria" pitchFamily="34" charset="0"/>
                <a:ea typeface="Cambria" pitchFamily="34" charset="-122"/>
                <a:cs typeface="Cambria" pitchFamily="34" charset="-120"/>
              </a:rPr>
              <a:t>User Interface</a:t>
            </a:r>
            <a:endParaRPr lang="en-US" sz="1700" dirty="0"/>
          </a:p>
        </p:txBody>
      </p:sp>
      <p:sp>
        <p:nvSpPr>
          <p:cNvPr id="6" name="Text 3"/>
          <p:cNvSpPr/>
          <p:nvPr/>
        </p:nvSpPr>
        <p:spPr>
          <a:xfrm>
            <a:off x="914400" y="2331720"/>
            <a:ext cx="4709160" cy="347472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Dark Theme</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Material Design</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Card Layout</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Bottom Navigation</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Responsive Layout</a:t>
            </a:r>
            <a:endParaRPr lang="en-US" sz="1500" dirty="0"/>
          </a:p>
        </p:txBody>
      </p:sp>
      <p:sp>
        <p:nvSpPr>
          <p:cNvPr id="7" name="Shape 4"/>
          <p:cNvSpPr/>
          <p:nvPr/>
        </p:nvSpPr>
        <p:spPr>
          <a:xfrm>
            <a:off x="6217920" y="1554480"/>
            <a:ext cx="5394960" cy="4480560"/>
          </a:xfrm>
          <a:prstGeom prst="roundRect">
            <a:avLst>
              <a:gd name="adj" fmla="val 2449"/>
            </a:avLst>
          </a:prstGeom>
          <a:solidFill>
            <a:srgbClr val="1E1E1E"/>
          </a:solidFill>
          <a:ln/>
          <a:effectLst>
            <a:outerShdw blurRad="101600" dist="38100" dir="2700000" algn="bl" rotWithShape="0">
              <a:srgbClr val="000000">
                <a:alpha val="35000"/>
              </a:srgbClr>
            </a:outerShdw>
          </a:effectLst>
        </p:spPr>
      </p:sp>
      <p:pic>
        <p:nvPicPr>
          <p:cNvPr id="8" name="Image 1" descr="icons/hand_gold.png"/>
          <p:cNvPicPr>
            <a:picLocks noChangeAspect="1"/>
          </p:cNvPicPr>
          <p:nvPr/>
        </p:nvPicPr>
        <p:blipFill>
          <a:blip r:embed="rId4"/>
          <a:stretch>
            <a:fillRect/>
          </a:stretch>
        </p:blipFill>
        <p:spPr>
          <a:xfrm>
            <a:off x="6537960" y="1783080"/>
            <a:ext cx="384048" cy="384048"/>
          </a:xfrm>
          <a:prstGeom prst="rect">
            <a:avLst/>
          </a:prstGeom>
        </p:spPr>
      </p:pic>
      <p:sp>
        <p:nvSpPr>
          <p:cNvPr id="9" name="Text 5"/>
          <p:cNvSpPr/>
          <p:nvPr/>
        </p:nvSpPr>
        <p:spPr>
          <a:xfrm>
            <a:off x="7040880" y="1783080"/>
            <a:ext cx="4297680" cy="384048"/>
          </a:xfrm>
          <a:prstGeom prst="rect">
            <a:avLst/>
          </a:prstGeom>
          <a:noFill/>
          <a:ln/>
        </p:spPr>
        <p:txBody>
          <a:bodyPr wrap="square" lIns="0" tIns="0" rIns="0" bIns="0" rtlCol="0" anchor="ctr"/>
          <a:lstStyle/>
          <a:p>
            <a:pPr marL="0" indent="0">
              <a:buNone/>
            </a:pPr>
            <a:r>
              <a:rPr lang="en-US" sz="1700" b="1" dirty="0">
                <a:solidFill>
                  <a:srgbClr val="FFC300"/>
                </a:solidFill>
                <a:latin typeface="Cambria" pitchFamily="34" charset="0"/>
                <a:ea typeface="Cambria" pitchFamily="34" charset="-122"/>
                <a:cs typeface="Cambria" pitchFamily="34" charset="-120"/>
              </a:rPr>
              <a:t>User Experience</a:t>
            </a:r>
            <a:endParaRPr lang="en-US" sz="1700" dirty="0"/>
          </a:p>
        </p:txBody>
      </p:sp>
      <p:sp>
        <p:nvSpPr>
          <p:cNvPr id="10" name="Text 6"/>
          <p:cNvSpPr/>
          <p:nvPr/>
        </p:nvSpPr>
        <p:spPr>
          <a:xfrm>
            <a:off x="6583680" y="2331720"/>
            <a:ext cx="4709160" cy="3474720"/>
          </a:xfrm>
          <a:prstGeom prst="rect">
            <a:avLst/>
          </a:prstGeom>
          <a:noFill/>
          <a:ln/>
        </p:spPr>
        <p:txBody>
          <a:bodyPr wrap="square" lIns="0" tIns="0" rIns="0" bIns="0" rtlCol="0" anchor="ctr"/>
          <a:lstStyle/>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Navigasi mudah</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Konsisten</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Mudah dipahami</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Tampilan sederhana</a:t>
            </a:r>
            <a:endParaRPr lang="en-US" sz="1500" dirty="0"/>
          </a:p>
          <a:p>
            <a:pPr marL="342900" indent="-342900">
              <a:spcAft>
                <a:spcPts val="1400"/>
              </a:spcAft>
              <a:buSzPct val="100000"/>
              <a:buChar char="▪"/>
            </a:pPr>
            <a:r>
              <a:rPr lang="en-US" sz="1500" dirty="0">
                <a:solidFill>
                  <a:srgbClr val="C9C9C9"/>
                </a:solidFill>
                <a:latin typeface="Calibri" pitchFamily="34" charset="0"/>
                <a:ea typeface="Calibri" pitchFamily="34" charset="-122"/>
                <a:cs typeface="Calibri" pitchFamily="34" charset="-120"/>
              </a:rPr>
              <a:t>Feedback ketika data disimpan</a:t>
            </a:r>
            <a:endParaRPr lang="en-US" sz="1500" dirty="0"/>
          </a:p>
        </p:txBody>
      </p:sp>
      <p:sp>
        <p:nvSpPr>
          <p:cNvPr id="11" name="Text 7"/>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12" name="Text 8"/>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Teknologi yang Digunakan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194560" y="1600200"/>
          <a:ext cx="7772400" cy="4242816"/>
        </p:xfrm>
        <a:graphic>
          <a:graphicData uri="http://schemas.openxmlformats.org/drawingml/2006/table">
            <a:tbl>
              <a:tblPr/>
              <a:tblGrid>
                <a:gridCol w="3657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30352">
                <a:tc>
                  <a:txBody>
                    <a:bodyPr/>
                    <a:lstStyle/>
                    <a:p>
                      <a:pPr marL="0" indent="0">
                        <a:buNone/>
                      </a:pPr>
                      <a:r>
                        <a:rPr lang="en-US" sz="1400" b="1" dirty="0">
                          <a:solidFill>
                            <a:srgbClr val="121212"/>
                          </a:solidFill>
                          <a:latin typeface="Cambria" pitchFamily="34" charset="0"/>
                          <a:ea typeface="Cambria" pitchFamily="34" charset="-122"/>
                          <a:cs typeface="Cambria" pitchFamily="34" charset="-120"/>
                        </a:rPr>
                        <a:t>Teknologi</a:t>
                      </a:r>
                      <a:endParaRPr lang="en-US" sz="1400" dirty="0">
                        <a:latin typeface="Cambria" charset="0"/>
                        <a:ea typeface="Cambria" charset="0"/>
                        <a:cs typeface="Cambria"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C300"/>
                    </a:solidFill>
                  </a:tcPr>
                </a:tc>
                <a:tc>
                  <a:txBody>
                    <a:bodyPr/>
                    <a:lstStyle/>
                    <a:p>
                      <a:pPr marL="0" indent="0">
                        <a:buNone/>
                      </a:pPr>
                      <a:r>
                        <a:rPr lang="en-US" sz="1400" b="1" dirty="0">
                          <a:solidFill>
                            <a:srgbClr val="121212"/>
                          </a:solidFill>
                          <a:latin typeface="Cambria" pitchFamily="34" charset="0"/>
                          <a:ea typeface="Cambria" pitchFamily="34" charset="-122"/>
                          <a:cs typeface="Cambria" pitchFamily="34" charset="-120"/>
                        </a:rPr>
                        <a:t>Fungsi</a:t>
                      </a:r>
                      <a:endParaRPr lang="en-US" sz="1400" dirty="0">
                        <a:latin typeface="Cambria" charset="0"/>
                        <a:ea typeface="Cambria" charset="0"/>
                        <a:cs typeface="Cambria"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C300"/>
                    </a:solidFill>
                  </a:tcPr>
                </a:tc>
                <a:extLst>
                  <a:ext uri="{0D108BD9-81ED-4DB2-BD59-A6C34878D82A}">
                    <a16:rowId xmlns:a16="http://schemas.microsoft.com/office/drawing/2014/main" val="10000"/>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Flutter</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Framework</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extLst>
                  <a:ext uri="{0D108BD9-81ED-4DB2-BD59-A6C34878D82A}">
                    <a16:rowId xmlns:a16="http://schemas.microsoft.com/office/drawing/2014/main" val="10001"/>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Dart</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Bahasa Pemrograman</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extLst>
                  <a:ext uri="{0D108BD9-81ED-4DB2-BD59-A6C34878D82A}">
                    <a16:rowId xmlns:a16="http://schemas.microsoft.com/office/drawing/2014/main" val="10002"/>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Hive</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Database Lokal</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extLst>
                  <a:ext uri="{0D108BD9-81ED-4DB2-BD59-A6C34878D82A}">
                    <a16:rowId xmlns:a16="http://schemas.microsoft.com/office/drawing/2014/main" val="10003"/>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Provider</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State Management</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extLst>
                  <a:ext uri="{0D108BD9-81ED-4DB2-BD59-A6C34878D82A}">
                    <a16:rowId xmlns:a16="http://schemas.microsoft.com/office/drawing/2014/main" val="10004"/>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Image Picker</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Kamera</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extLst>
                  <a:ext uri="{0D108BD9-81ED-4DB2-BD59-A6C34878D82A}">
                    <a16:rowId xmlns:a16="http://schemas.microsoft.com/office/drawing/2014/main" val="10005"/>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HTTP</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REST API</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252525"/>
                    </a:solidFill>
                  </a:tcPr>
                </a:tc>
                <a:extLst>
                  <a:ext uri="{0D108BD9-81ED-4DB2-BD59-A6C34878D82A}">
                    <a16:rowId xmlns:a16="http://schemas.microsoft.com/office/drawing/2014/main" val="10006"/>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CustomPainter</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tc>
                  <a:txBody>
                    <a:bodyPr/>
                    <a:lstStyle/>
                    <a:p>
                      <a:pPr marL="0" indent="0">
                        <a:buNone/>
                      </a:pPr>
                      <a:r>
                        <a:rPr lang="en-US" sz="1350" dirty="0">
                          <a:solidFill>
                            <a:srgbClr val="C9C9C9"/>
                          </a:solidFill>
                          <a:latin typeface="Calibri" pitchFamily="34" charset="0"/>
                          <a:ea typeface="Calibri" pitchFamily="34" charset="-122"/>
                          <a:cs typeface="Calibri" pitchFamily="34" charset="-120"/>
                        </a:rPr>
                        <a:t>Grafik</a:t>
                      </a:r>
                      <a:endParaRPr lang="en-US" sz="1350" dirty="0">
                        <a:latin typeface="Calibri" charset="0"/>
                        <a:ea typeface="Calibri" charset="0"/>
                        <a:cs typeface="Calibri" charset="0"/>
                      </a:endParaRPr>
                    </a:p>
                  </a:txBody>
                  <a:tcPr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E1E1E"/>
                    </a:solidFill>
                  </a:tcPr>
                </a:tc>
                <a:extLst>
                  <a:ext uri="{0D108BD9-81ED-4DB2-BD59-A6C34878D82A}">
                    <a16:rowId xmlns:a16="http://schemas.microsoft.com/office/drawing/2014/main" val="10007"/>
                  </a:ext>
                </a:extLst>
              </a:tr>
            </a:tbl>
          </a:graphicData>
        </a:graphic>
      </p:graphicFrame>
      <p:sp>
        <p:nvSpPr>
          <p:cNvPr id="4" name="Text 1"/>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5" name="Text 2"/>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Implementasi Mobile Computing</a:t>
            </a:r>
            <a:endParaRPr lang="en-US" sz="3200" dirty="0"/>
          </a:p>
        </p:txBody>
      </p:sp>
      <p:sp>
        <p:nvSpPr>
          <p:cNvPr id="3" name="Shape 1"/>
          <p:cNvSpPr/>
          <p:nvPr/>
        </p:nvSpPr>
        <p:spPr>
          <a:xfrm>
            <a:off x="640080" y="16002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4" name="Image 0" descr="icons/mobile_gold.png"/>
          <p:cNvPicPr>
            <a:picLocks noChangeAspect="1"/>
          </p:cNvPicPr>
          <p:nvPr/>
        </p:nvPicPr>
        <p:blipFill>
          <a:blip r:embed="rId3"/>
          <a:stretch>
            <a:fillRect/>
          </a:stretch>
        </p:blipFill>
        <p:spPr>
          <a:xfrm>
            <a:off x="914400" y="1869948"/>
            <a:ext cx="512064" cy="512064"/>
          </a:xfrm>
          <a:prstGeom prst="rect">
            <a:avLst/>
          </a:prstGeom>
        </p:spPr>
      </p:pic>
      <p:sp>
        <p:nvSpPr>
          <p:cNvPr id="5" name="Text 2"/>
          <p:cNvSpPr/>
          <p:nvPr/>
        </p:nvSpPr>
        <p:spPr>
          <a:xfrm>
            <a:off x="1645920" y="16002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Cross Platform Flutter</a:t>
            </a:r>
            <a:endParaRPr lang="en-US" sz="1550" dirty="0"/>
          </a:p>
        </p:txBody>
      </p:sp>
      <p:pic>
        <p:nvPicPr>
          <p:cNvPr id="6" name="Image 1" descr="icons/check_gold.png"/>
          <p:cNvPicPr>
            <a:picLocks noChangeAspect="1"/>
          </p:cNvPicPr>
          <p:nvPr/>
        </p:nvPicPr>
        <p:blipFill>
          <a:blip r:embed="rId4"/>
          <a:stretch>
            <a:fillRect/>
          </a:stretch>
        </p:blipFill>
        <p:spPr>
          <a:xfrm>
            <a:off x="5257800" y="1961388"/>
            <a:ext cx="329184" cy="329184"/>
          </a:xfrm>
          <a:prstGeom prst="rect">
            <a:avLst/>
          </a:prstGeom>
        </p:spPr>
      </p:pic>
      <p:sp>
        <p:nvSpPr>
          <p:cNvPr id="7" name="Shape 3"/>
          <p:cNvSpPr/>
          <p:nvPr/>
        </p:nvSpPr>
        <p:spPr>
          <a:xfrm>
            <a:off x="6217920" y="16002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8" name="Image 2" descr="icons/database_gold.png"/>
          <p:cNvPicPr>
            <a:picLocks noChangeAspect="1"/>
          </p:cNvPicPr>
          <p:nvPr/>
        </p:nvPicPr>
        <p:blipFill>
          <a:blip r:embed="rId5"/>
          <a:stretch>
            <a:fillRect/>
          </a:stretch>
        </p:blipFill>
        <p:spPr>
          <a:xfrm>
            <a:off x="6492240" y="1869948"/>
            <a:ext cx="512064" cy="512064"/>
          </a:xfrm>
          <a:prstGeom prst="rect">
            <a:avLst/>
          </a:prstGeom>
        </p:spPr>
      </p:pic>
      <p:sp>
        <p:nvSpPr>
          <p:cNvPr id="9" name="Text 4"/>
          <p:cNvSpPr/>
          <p:nvPr/>
        </p:nvSpPr>
        <p:spPr>
          <a:xfrm>
            <a:off x="7223760" y="16002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Local Database (Hive)</a:t>
            </a:r>
            <a:endParaRPr lang="en-US" sz="1550" dirty="0"/>
          </a:p>
        </p:txBody>
      </p:sp>
      <p:pic>
        <p:nvPicPr>
          <p:cNvPr id="10" name="Image 3" descr="icons/check_gold.png"/>
          <p:cNvPicPr>
            <a:picLocks noChangeAspect="1"/>
          </p:cNvPicPr>
          <p:nvPr/>
        </p:nvPicPr>
        <p:blipFill>
          <a:blip r:embed="rId4"/>
          <a:stretch>
            <a:fillRect/>
          </a:stretch>
        </p:blipFill>
        <p:spPr>
          <a:xfrm>
            <a:off x="10835640" y="1961388"/>
            <a:ext cx="329184" cy="329184"/>
          </a:xfrm>
          <a:prstGeom prst="rect">
            <a:avLst/>
          </a:prstGeom>
        </p:spPr>
      </p:pic>
      <p:sp>
        <p:nvSpPr>
          <p:cNvPr id="11" name="Shape 5"/>
          <p:cNvSpPr/>
          <p:nvPr/>
        </p:nvSpPr>
        <p:spPr>
          <a:xfrm>
            <a:off x="640080" y="29718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12" name="Image 4" descr="icons/layer_gold.png"/>
          <p:cNvPicPr>
            <a:picLocks noChangeAspect="1"/>
          </p:cNvPicPr>
          <p:nvPr/>
        </p:nvPicPr>
        <p:blipFill>
          <a:blip r:embed="rId6"/>
          <a:stretch>
            <a:fillRect/>
          </a:stretch>
        </p:blipFill>
        <p:spPr>
          <a:xfrm>
            <a:off x="914400" y="3241548"/>
            <a:ext cx="512064" cy="512064"/>
          </a:xfrm>
          <a:prstGeom prst="rect">
            <a:avLst/>
          </a:prstGeom>
        </p:spPr>
      </p:pic>
      <p:sp>
        <p:nvSpPr>
          <p:cNvPr id="13" name="Text 6"/>
          <p:cNvSpPr/>
          <p:nvPr/>
        </p:nvSpPr>
        <p:spPr>
          <a:xfrm>
            <a:off x="1645920" y="29718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State Management (Provider)</a:t>
            </a:r>
            <a:endParaRPr lang="en-US" sz="1550" dirty="0"/>
          </a:p>
        </p:txBody>
      </p:sp>
      <p:pic>
        <p:nvPicPr>
          <p:cNvPr id="14" name="Image 5" descr="icons/check_gold.png"/>
          <p:cNvPicPr>
            <a:picLocks noChangeAspect="1"/>
          </p:cNvPicPr>
          <p:nvPr/>
        </p:nvPicPr>
        <p:blipFill>
          <a:blip r:embed="rId4"/>
          <a:stretch>
            <a:fillRect/>
          </a:stretch>
        </p:blipFill>
        <p:spPr>
          <a:xfrm>
            <a:off x="5257800" y="3332988"/>
            <a:ext cx="329184" cy="329184"/>
          </a:xfrm>
          <a:prstGeom prst="rect">
            <a:avLst/>
          </a:prstGeom>
        </p:spPr>
      </p:pic>
      <p:sp>
        <p:nvSpPr>
          <p:cNvPr id="15" name="Shape 7"/>
          <p:cNvSpPr/>
          <p:nvPr/>
        </p:nvSpPr>
        <p:spPr>
          <a:xfrm>
            <a:off x="6217920" y="29718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16" name="Image 6" descr="icons/cloud_gold.png"/>
          <p:cNvPicPr>
            <a:picLocks noChangeAspect="1"/>
          </p:cNvPicPr>
          <p:nvPr/>
        </p:nvPicPr>
        <p:blipFill>
          <a:blip r:embed="rId7"/>
          <a:stretch>
            <a:fillRect/>
          </a:stretch>
        </p:blipFill>
        <p:spPr>
          <a:xfrm>
            <a:off x="6492240" y="3241548"/>
            <a:ext cx="512064" cy="512064"/>
          </a:xfrm>
          <a:prstGeom prst="rect">
            <a:avLst/>
          </a:prstGeom>
        </p:spPr>
      </p:pic>
      <p:sp>
        <p:nvSpPr>
          <p:cNvPr id="17" name="Text 8"/>
          <p:cNvSpPr/>
          <p:nvPr/>
        </p:nvSpPr>
        <p:spPr>
          <a:xfrm>
            <a:off x="7223760" y="29718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REST API</a:t>
            </a:r>
            <a:endParaRPr lang="en-US" sz="1550" dirty="0"/>
          </a:p>
        </p:txBody>
      </p:sp>
      <p:pic>
        <p:nvPicPr>
          <p:cNvPr id="18" name="Image 7" descr="icons/check_gold.png"/>
          <p:cNvPicPr>
            <a:picLocks noChangeAspect="1"/>
          </p:cNvPicPr>
          <p:nvPr/>
        </p:nvPicPr>
        <p:blipFill>
          <a:blip r:embed="rId4"/>
          <a:stretch>
            <a:fillRect/>
          </a:stretch>
        </p:blipFill>
        <p:spPr>
          <a:xfrm>
            <a:off x="10835640" y="3332988"/>
            <a:ext cx="329184" cy="329184"/>
          </a:xfrm>
          <a:prstGeom prst="rect">
            <a:avLst/>
          </a:prstGeom>
        </p:spPr>
      </p:pic>
      <p:sp>
        <p:nvSpPr>
          <p:cNvPr id="19" name="Shape 9"/>
          <p:cNvSpPr/>
          <p:nvPr/>
        </p:nvSpPr>
        <p:spPr>
          <a:xfrm>
            <a:off x="640080" y="43434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20" name="Image 8" descr="icons/code_gold.png"/>
          <p:cNvPicPr>
            <a:picLocks noChangeAspect="1"/>
          </p:cNvPicPr>
          <p:nvPr/>
        </p:nvPicPr>
        <p:blipFill>
          <a:blip r:embed="rId8"/>
          <a:stretch>
            <a:fillRect/>
          </a:stretch>
        </p:blipFill>
        <p:spPr>
          <a:xfrm>
            <a:off x="914400" y="4613148"/>
            <a:ext cx="512064" cy="512064"/>
          </a:xfrm>
          <a:prstGeom prst="rect">
            <a:avLst/>
          </a:prstGeom>
        </p:spPr>
      </p:pic>
      <p:sp>
        <p:nvSpPr>
          <p:cNvPr id="21" name="Text 10"/>
          <p:cNvSpPr/>
          <p:nvPr/>
        </p:nvSpPr>
        <p:spPr>
          <a:xfrm>
            <a:off x="1645920" y="43434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JSON Parsing</a:t>
            </a:r>
            <a:endParaRPr lang="en-US" sz="1550" dirty="0"/>
          </a:p>
        </p:txBody>
      </p:sp>
      <p:pic>
        <p:nvPicPr>
          <p:cNvPr id="22" name="Image 9" descr="icons/check_gold.png"/>
          <p:cNvPicPr>
            <a:picLocks noChangeAspect="1"/>
          </p:cNvPicPr>
          <p:nvPr/>
        </p:nvPicPr>
        <p:blipFill>
          <a:blip r:embed="rId4"/>
          <a:stretch>
            <a:fillRect/>
          </a:stretch>
        </p:blipFill>
        <p:spPr>
          <a:xfrm>
            <a:off x="5257800" y="4704588"/>
            <a:ext cx="329184" cy="329184"/>
          </a:xfrm>
          <a:prstGeom prst="rect">
            <a:avLst/>
          </a:prstGeom>
        </p:spPr>
      </p:pic>
      <p:sp>
        <p:nvSpPr>
          <p:cNvPr id="23" name="Shape 11"/>
          <p:cNvSpPr/>
          <p:nvPr/>
        </p:nvSpPr>
        <p:spPr>
          <a:xfrm>
            <a:off x="6217920" y="43434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24" name="Image 10" descr="icons/camera_gold.png"/>
          <p:cNvPicPr>
            <a:picLocks noChangeAspect="1"/>
          </p:cNvPicPr>
          <p:nvPr/>
        </p:nvPicPr>
        <p:blipFill>
          <a:blip r:embed="rId9"/>
          <a:stretch>
            <a:fillRect/>
          </a:stretch>
        </p:blipFill>
        <p:spPr>
          <a:xfrm>
            <a:off x="6492240" y="4613148"/>
            <a:ext cx="512064" cy="512064"/>
          </a:xfrm>
          <a:prstGeom prst="rect">
            <a:avLst/>
          </a:prstGeom>
        </p:spPr>
      </p:pic>
      <p:sp>
        <p:nvSpPr>
          <p:cNvPr id="25" name="Text 12"/>
          <p:cNvSpPr/>
          <p:nvPr/>
        </p:nvSpPr>
        <p:spPr>
          <a:xfrm>
            <a:off x="7223760" y="43434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Camera Integration</a:t>
            </a:r>
            <a:endParaRPr lang="en-US" sz="1550" dirty="0"/>
          </a:p>
        </p:txBody>
      </p:sp>
      <p:pic>
        <p:nvPicPr>
          <p:cNvPr id="26" name="Image 11" descr="icons/check_gold.png"/>
          <p:cNvPicPr>
            <a:picLocks noChangeAspect="1"/>
          </p:cNvPicPr>
          <p:nvPr/>
        </p:nvPicPr>
        <p:blipFill>
          <a:blip r:embed="rId4"/>
          <a:stretch>
            <a:fillRect/>
          </a:stretch>
        </p:blipFill>
        <p:spPr>
          <a:xfrm>
            <a:off x="10835640" y="4704588"/>
            <a:ext cx="329184" cy="329184"/>
          </a:xfrm>
          <a:prstGeom prst="rect">
            <a:avLst/>
          </a:prstGeom>
        </p:spPr>
      </p:pic>
      <p:sp>
        <p:nvSpPr>
          <p:cNvPr id="27" name="Shape 13"/>
          <p:cNvSpPr/>
          <p:nvPr/>
        </p:nvSpPr>
        <p:spPr>
          <a:xfrm>
            <a:off x="640080" y="5715000"/>
            <a:ext cx="5120640" cy="1051560"/>
          </a:xfrm>
          <a:prstGeom prst="roundRect">
            <a:avLst>
              <a:gd name="adj" fmla="val 8696"/>
            </a:avLst>
          </a:prstGeom>
          <a:solidFill>
            <a:srgbClr val="1E1E1E"/>
          </a:solidFill>
          <a:ln/>
          <a:effectLst>
            <a:outerShdw blurRad="101600" dist="38100" dir="2700000" algn="bl" rotWithShape="0">
              <a:srgbClr val="000000">
                <a:alpha val="35000"/>
              </a:srgbClr>
            </a:outerShdw>
          </a:effectLst>
        </p:spPr>
      </p:sp>
      <p:pic>
        <p:nvPicPr>
          <p:cNvPr id="28" name="Image 12" descr="icons/palette_gold.png"/>
          <p:cNvPicPr>
            <a:picLocks noChangeAspect="1"/>
          </p:cNvPicPr>
          <p:nvPr/>
        </p:nvPicPr>
        <p:blipFill>
          <a:blip r:embed="rId10"/>
          <a:stretch>
            <a:fillRect/>
          </a:stretch>
        </p:blipFill>
        <p:spPr>
          <a:xfrm>
            <a:off x="914400" y="5984748"/>
            <a:ext cx="512064" cy="512064"/>
          </a:xfrm>
          <a:prstGeom prst="rect">
            <a:avLst/>
          </a:prstGeom>
        </p:spPr>
      </p:pic>
      <p:sp>
        <p:nvSpPr>
          <p:cNvPr id="29" name="Text 14"/>
          <p:cNvSpPr/>
          <p:nvPr/>
        </p:nvSpPr>
        <p:spPr>
          <a:xfrm>
            <a:off x="1645920" y="5715000"/>
            <a:ext cx="3931920" cy="105156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Responsive UI</a:t>
            </a:r>
            <a:endParaRPr lang="en-US" sz="1550" dirty="0"/>
          </a:p>
        </p:txBody>
      </p:sp>
      <p:pic>
        <p:nvPicPr>
          <p:cNvPr id="30" name="Image 13" descr="icons/check_gold.png"/>
          <p:cNvPicPr>
            <a:picLocks noChangeAspect="1"/>
          </p:cNvPicPr>
          <p:nvPr/>
        </p:nvPicPr>
        <p:blipFill>
          <a:blip r:embed="rId4"/>
          <a:stretch>
            <a:fillRect/>
          </a:stretch>
        </p:blipFill>
        <p:spPr>
          <a:xfrm>
            <a:off x="5257800" y="6076188"/>
            <a:ext cx="329184" cy="329184"/>
          </a:xfrm>
          <a:prstGeom prst="rect">
            <a:avLst/>
          </a:prstGeom>
        </p:spPr>
      </p:pic>
      <p:sp>
        <p:nvSpPr>
          <p:cNvPr id="31" name="Text 15"/>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32" name="Text 16"/>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Arsitektur Aplikasi</a:t>
            </a:r>
            <a:endParaRPr lang="en-US" sz="3200" dirty="0"/>
          </a:p>
        </p:txBody>
      </p:sp>
      <p:sp>
        <p:nvSpPr>
          <p:cNvPr id="3" name="Shape 1"/>
          <p:cNvSpPr/>
          <p:nvPr/>
        </p:nvSpPr>
        <p:spPr>
          <a:xfrm>
            <a:off x="4448556" y="1417320"/>
            <a:ext cx="329184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4" name="Text 2"/>
          <p:cNvSpPr/>
          <p:nvPr/>
        </p:nvSpPr>
        <p:spPr>
          <a:xfrm>
            <a:off x="4448556" y="1417320"/>
            <a:ext cx="3291840" cy="5943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User</a:t>
            </a:r>
            <a:endParaRPr lang="en-US" sz="1450" dirty="0"/>
          </a:p>
        </p:txBody>
      </p:sp>
      <p:sp>
        <p:nvSpPr>
          <p:cNvPr id="5" name="Shape 3"/>
          <p:cNvSpPr/>
          <p:nvPr/>
        </p:nvSpPr>
        <p:spPr>
          <a:xfrm>
            <a:off x="6094476" y="2011680"/>
            <a:ext cx="0" cy="320040"/>
          </a:xfrm>
          <a:prstGeom prst="line">
            <a:avLst/>
          </a:prstGeom>
          <a:noFill/>
          <a:ln w="19050">
            <a:solidFill>
              <a:srgbClr val="8A8A8A"/>
            </a:solidFill>
            <a:prstDash val="solid"/>
            <a:tailEnd type="triangle"/>
          </a:ln>
        </p:spPr>
      </p:sp>
      <p:sp>
        <p:nvSpPr>
          <p:cNvPr id="6" name="Shape 4"/>
          <p:cNvSpPr/>
          <p:nvPr/>
        </p:nvSpPr>
        <p:spPr>
          <a:xfrm>
            <a:off x="4448556" y="2331720"/>
            <a:ext cx="329184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7" name="Text 5"/>
          <p:cNvSpPr/>
          <p:nvPr/>
        </p:nvSpPr>
        <p:spPr>
          <a:xfrm>
            <a:off x="4448556" y="2331720"/>
            <a:ext cx="3291840" cy="5943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Flutter User Interface</a:t>
            </a:r>
            <a:endParaRPr lang="en-US" sz="1450" dirty="0"/>
          </a:p>
        </p:txBody>
      </p:sp>
      <p:sp>
        <p:nvSpPr>
          <p:cNvPr id="8" name="Shape 6"/>
          <p:cNvSpPr/>
          <p:nvPr/>
        </p:nvSpPr>
        <p:spPr>
          <a:xfrm>
            <a:off x="6094476" y="2926080"/>
            <a:ext cx="0" cy="320040"/>
          </a:xfrm>
          <a:prstGeom prst="line">
            <a:avLst/>
          </a:prstGeom>
          <a:noFill/>
          <a:ln w="19050">
            <a:solidFill>
              <a:srgbClr val="8A8A8A"/>
            </a:solidFill>
            <a:prstDash val="solid"/>
            <a:tailEnd type="triangle"/>
          </a:ln>
        </p:spPr>
      </p:sp>
      <p:sp>
        <p:nvSpPr>
          <p:cNvPr id="9" name="Shape 7"/>
          <p:cNvSpPr/>
          <p:nvPr/>
        </p:nvSpPr>
        <p:spPr>
          <a:xfrm>
            <a:off x="4448556" y="3246120"/>
            <a:ext cx="329184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10" name="Text 8"/>
          <p:cNvSpPr/>
          <p:nvPr/>
        </p:nvSpPr>
        <p:spPr>
          <a:xfrm>
            <a:off x="4448556" y="3337560"/>
            <a:ext cx="3291840" cy="365760"/>
          </a:xfrm>
          <a:prstGeom prst="rect">
            <a:avLst/>
          </a:prstGeom>
          <a:noFill/>
          <a:ln/>
        </p:spPr>
        <p:txBody>
          <a:bodyPr wrap="square" lIns="0" tIns="0" rIns="0" bIns="0" rtlCol="0" anchor="t"/>
          <a:lstStyle/>
          <a:p>
            <a:pPr marL="0" indent="0" algn="ctr">
              <a:buNone/>
            </a:pPr>
            <a:r>
              <a:rPr lang="en-US" sz="1450" b="1" dirty="0">
                <a:solidFill>
                  <a:srgbClr val="FFFFFF"/>
                </a:solidFill>
                <a:latin typeface="Calibri" pitchFamily="34" charset="0"/>
                <a:ea typeface="Calibri" pitchFamily="34" charset="-122"/>
                <a:cs typeface="Calibri" pitchFamily="34" charset="-120"/>
              </a:rPr>
              <a:t>Provider</a:t>
            </a:r>
            <a:endParaRPr lang="en-US" sz="1450" dirty="0"/>
          </a:p>
        </p:txBody>
      </p:sp>
      <p:sp>
        <p:nvSpPr>
          <p:cNvPr id="11" name="Text 9"/>
          <p:cNvSpPr/>
          <p:nvPr/>
        </p:nvSpPr>
        <p:spPr>
          <a:xfrm>
            <a:off x="4448556" y="3685032"/>
            <a:ext cx="3291840" cy="320040"/>
          </a:xfrm>
          <a:prstGeom prst="rect">
            <a:avLst/>
          </a:prstGeom>
          <a:noFill/>
          <a:ln/>
        </p:spPr>
        <p:txBody>
          <a:bodyPr wrap="square" lIns="0" tIns="0" rIns="0" bIns="0" rtlCol="0" anchor="ctr"/>
          <a:lstStyle/>
          <a:p>
            <a:pPr marL="0" indent="0" algn="ctr">
              <a:buNone/>
            </a:pPr>
            <a:r>
              <a:rPr lang="en-US" sz="1050" i="1" dirty="0">
                <a:solidFill>
                  <a:srgbClr val="A0A0A0"/>
                </a:solidFill>
                <a:latin typeface="Calibri" pitchFamily="34" charset="0"/>
                <a:ea typeface="Calibri" pitchFamily="34" charset="-122"/>
                <a:cs typeface="Calibri" pitchFamily="34" charset="-120"/>
              </a:rPr>
              <a:t>(State Management)</a:t>
            </a:r>
            <a:endParaRPr lang="en-US" sz="1050" dirty="0"/>
          </a:p>
        </p:txBody>
      </p:sp>
      <p:sp>
        <p:nvSpPr>
          <p:cNvPr id="12" name="Shape 10"/>
          <p:cNvSpPr/>
          <p:nvPr/>
        </p:nvSpPr>
        <p:spPr>
          <a:xfrm>
            <a:off x="4357116" y="3840480"/>
            <a:ext cx="274320" cy="320040"/>
          </a:xfrm>
          <a:prstGeom prst="line">
            <a:avLst/>
          </a:prstGeom>
          <a:noFill/>
          <a:ln w="19050">
            <a:solidFill>
              <a:srgbClr val="8A8A8A"/>
            </a:solidFill>
            <a:prstDash val="solid"/>
            <a:tailEnd type="triangle"/>
          </a:ln>
        </p:spPr>
      </p:sp>
      <p:sp>
        <p:nvSpPr>
          <p:cNvPr id="13" name="Shape 11"/>
          <p:cNvSpPr/>
          <p:nvPr/>
        </p:nvSpPr>
        <p:spPr>
          <a:xfrm>
            <a:off x="7557516" y="3840480"/>
            <a:ext cx="274320" cy="320040"/>
          </a:xfrm>
          <a:prstGeom prst="line">
            <a:avLst/>
          </a:prstGeom>
          <a:noFill/>
          <a:ln w="19050">
            <a:solidFill>
              <a:srgbClr val="8A8A8A"/>
            </a:solidFill>
            <a:prstDash val="solid"/>
            <a:tailEnd type="triangle"/>
          </a:ln>
        </p:spPr>
      </p:sp>
      <p:sp>
        <p:nvSpPr>
          <p:cNvPr id="14" name="Shape 12"/>
          <p:cNvSpPr/>
          <p:nvPr/>
        </p:nvSpPr>
        <p:spPr>
          <a:xfrm>
            <a:off x="2711196" y="4160520"/>
            <a:ext cx="182880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15" name="Text 13"/>
          <p:cNvSpPr/>
          <p:nvPr/>
        </p:nvSpPr>
        <p:spPr>
          <a:xfrm>
            <a:off x="2711196" y="4160520"/>
            <a:ext cx="1828800" cy="5943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Hive Database</a:t>
            </a:r>
            <a:endParaRPr lang="en-US" sz="1450" dirty="0"/>
          </a:p>
        </p:txBody>
      </p:sp>
      <p:sp>
        <p:nvSpPr>
          <p:cNvPr id="16" name="Shape 14"/>
          <p:cNvSpPr/>
          <p:nvPr/>
        </p:nvSpPr>
        <p:spPr>
          <a:xfrm>
            <a:off x="7648956" y="4160520"/>
            <a:ext cx="182880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17" name="Text 15"/>
          <p:cNvSpPr/>
          <p:nvPr/>
        </p:nvSpPr>
        <p:spPr>
          <a:xfrm>
            <a:off x="7648956" y="4160520"/>
            <a:ext cx="1828800" cy="5943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REST API</a:t>
            </a:r>
            <a:endParaRPr lang="en-US" sz="1450" dirty="0"/>
          </a:p>
        </p:txBody>
      </p:sp>
      <p:sp>
        <p:nvSpPr>
          <p:cNvPr id="18" name="Shape 16"/>
          <p:cNvSpPr/>
          <p:nvPr/>
        </p:nvSpPr>
        <p:spPr>
          <a:xfrm>
            <a:off x="3625596" y="4754880"/>
            <a:ext cx="2103120" cy="411480"/>
          </a:xfrm>
          <a:prstGeom prst="line">
            <a:avLst/>
          </a:prstGeom>
          <a:noFill/>
          <a:ln w="19050">
            <a:solidFill>
              <a:srgbClr val="8A8A8A"/>
            </a:solidFill>
            <a:prstDash val="solid"/>
            <a:tailEnd type="triangle"/>
          </a:ln>
        </p:spPr>
      </p:sp>
      <p:sp>
        <p:nvSpPr>
          <p:cNvPr id="19" name="Shape 17"/>
          <p:cNvSpPr/>
          <p:nvPr/>
        </p:nvSpPr>
        <p:spPr>
          <a:xfrm>
            <a:off x="6460236" y="4754880"/>
            <a:ext cx="2103120" cy="411480"/>
          </a:xfrm>
          <a:prstGeom prst="line">
            <a:avLst/>
          </a:prstGeom>
          <a:noFill/>
          <a:ln w="19050">
            <a:solidFill>
              <a:srgbClr val="8A8A8A"/>
            </a:solidFill>
            <a:prstDash val="solid"/>
            <a:tailEnd type="triangle"/>
          </a:ln>
        </p:spPr>
      </p:sp>
      <p:sp>
        <p:nvSpPr>
          <p:cNvPr id="20" name="Shape 18"/>
          <p:cNvSpPr/>
          <p:nvPr/>
        </p:nvSpPr>
        <p:spPr>
          <a:xfrm>
            <a:off x="4448556" y="5166360"/>
            <a:ext cx="3291840" cy="594360"/>
          </a:xfrm>
          <a:prstGeom prst="roundRect">
            <a:avLst>
              <a:gd name="adj" fmla="val 15385"/>
            </a:avLst>
          </a:prstGeom>
          <a:solidFill>
            <a:srgbClr val="1E1E1E"/>
          </a:solidFill>
          <a:ln w="15875">
            <a:solidFill>
              <a:srgbClr val="FFC300"/>
            </a:solidFill>
            <a:prstDash val="solid"/>
          </a:ln>
          <a:effectLst>
            <a:outerShdw blurRad="101600" dist="38100" dir="2700000" algn="bl" rotWithShape="0">
              <a:srgbClr val="000000">
                <a:alpha val="35000"/>
              </a:srgbClr>
            </a:outerShdw>
          </a:effectLst>
        </p:spPr>
      </p:sp>
      <p:sp>
        <p:nvSpPr>
          <p:cNvPr id="21" name="Text 19"/>
          <p:cNvSpPr/>
          <p:nvPr/>
        </p:nvSpPr>
        <p:spPr>
          <a:xfrm>
            <a:off x="4448556" y="5166360"/>
            <a:ext cx="3291840" cy="594360"/>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Update UI</a:t>
            </a:r>
            <a:endParaRPr lang="en-US" sz="1450" dirty="0"/>
          </a:p>
        </p:txBody>
      </p:sp>
      <p:sp>
        <p:nvSpPr>
          <p:cNvPr id="22" name="Text 20"/>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23" name="Text 21"/>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Demo Aplikasi</a:t>
            </a:r>
            <a:endParaRPr lang="en-US" sz="3200" dirty="0"/>
          </a:p>
        </p:txBody>
      </p:sp>
      <p:sp>
        <p:nvSpPr>
          <p:cNvPr id="3" name="Shape 1"/>
          <p:cNvSpPr/>
          <p:nvPr/>
        </p:nvSpPr>
        <p:spPr>
          <a:xfrm>
            <a:off x="1524762" y="1554480"/>
            <a:ext cx="1696212" cy="3657600"/>
          </a:xfrm>
          <a:prstGeom prst="roundRect">
            <a:avLst>
              <a:gd name="adj" fmla="val 6469"/>
            </a:avLst>
          </a:prstGeom>
          <a:solidFill>
            <a:srgbClr val="252525"/>
          </a:solidFill>
          <a:ln/>
          <a:effectLst>
            <a:outerShdw blurRad="101600" dist="38100" dir="2700000" algn="bl" rotWithShape="0">
              <a:srgbClr val="000000">
                <a:alpha val="35000"/>
              </a:srgbClr>
            </a:outerShdw>
          </a:effectLst>
        </p:spPr>
      </p:sp>
      <p:pic>
        <p:nvPicPr>
          <p:cNvPr id="4" name="Image 0" descr="images/1783530015775_image.png"/>
          <p:cNvPicPr>
            <a:picLocks noChangeAspect="1"/>
          </p:cNvPicPr>
          <p:nvPr/>
        </p:nvPicPr>
        <p:blipFill>
          <a:blip r:embed="rId3"/>
          <a:stretch>
            <a:fillRect/>
          </a:stretch>
        </p:blipFill>
        <p:spPr>
          <a:xfrm>
            <a:off x="1570482" y="1600200"/>
            <a:ext cx="1604772" cy="3566160"/>
          </a:xfrm>
          <a:prstGeom prst="rect">
            <a:avLst/>
          </a:prstGeom>
        </p:spPr>
      </p:pic>
      <p:sp>
        <p:nvSpPr>
          <p:cNvPr id="5" name="Shape 2"/>
          <p:cNvSpPr/>
          <p:nvPr/>
        </p:nvSpPr>
        <p:spPr>
          <a:xfrm>
            <a:off x="3385566" y="1554480"/>
            <a:ext cx="1696212" cy="3657600"/>
          </a:xfrm>
          <a:prstGeom prst="roundRect">
            <a:avLst>
              <a:gd name="adj" fmla="val 6469"/>
            </a:avLst>
          </a:prstGeom>
          <a:solidFill>
            <a:srgbClr val="252525"/>
          </a:solidFill>
          <a:ln/>
          <a:effectLst>
            <a:outerShdw blurRad="101600" dist="38100" dir="2700000" algn="bl" rotWithShape="0">
              <a:srgbClr val="000000">
                <a:alpha val="35000"/>
              </a:srgbClr>
            </a:outerShdw>
          </a:effectLst>
        </p:spPr>
      </p:sp>
      <p:pic>
        <p:nvPicPr>
          <p:cNvPr id="6" name="Image 1" descr="images/1783530031219_image.png"/>
          <p:cNvPicPr>
            <a:picLocks noChangeAspect="1"/>
          </p:cNvPicPr>
          <p:nvPr/>
        </p:nvPicPr>
        <p:blipFill>
          <a:blip r:embed="rId4"/>
          <a:stretch>
            <a:fillRect/>
          </a:stretch>
        </p:blipFill>
        <p:spPr>
          <a:xfrm>
            <a:off x="3431286" y="1600200"/>
            <a:ext cx="1604772" cy="3566160"/>
          </a:xfrm>
          <a:prstGeom prst="rect">
            <a:avLst/>
          </a:prstGeom>
        </p:spPr>
      </p:pic>
      <p:sp>
        <p:nvSpPr>
          <p:cNvPr id="7" name="Shape 3"/>
          <p:cNvSpPr/>
          <p:nvPr/>
        </p:nvSpPr>
        <p:spPr>
          <a:xfrm>
            <a:off x="5246370" y="1554480"/>
            <a:ext cx="1696212" cy="3657600"/>
          </a:xfrm>
          <a:prstGeom prst="roundRect">
            <a:avLst>
              <a:gd name="adj" fmla="val 6469"/>
            </a:avLst>
          </a:prstGeom>
          <a:solidFill>
            <a:srgbClr val="252525"/>
          </a:solidFill>
          <a:ln/>
          <a:effectLst>
            <a:outerShdw blurRad="101600" dist="38100" dir="2700000" algn="bl" rotWithShape="0">
              <a:srgbClr val="000000">
                <a:alpha val="35000"/>
              </a:srgbClr>
            </a:outerShdw>
          </a:effectLst>
        </p:spPr>
      </p:sp>
      <p:pic>
        <p:nvPicPr>
          <p:cNvPr id="8" name="Image 2" descr="images/1783530040541_image.png"/>
          <p:cNvPicPr>
            <a:picLocks noChangeAspect="1"/>
          </p:cNvPicPr>
          <p:nvPr/>
        </p:nvPicPr>
        <p:blipFill>
          <a:blip r:embed="rId5"/>
          <a:stretch>
            <a:fillRect/>
          </a:stretch>
        </p:blipFill>
        <p:spPr>
          <a:xfrm>
            <a:off x="5292090" y="1600200"/>
            <a:ext cx="1604772" cy="3566160"/>
          </a:xfrm>
          <a:prstGeom prst="rect">
            <a:avLst/>
          </a:prstGeom>
        </p:spPr>
      </p:pic>
      <p:sp>
        <p:nvSpPr>
          <p:cNvPr id="9" name="Shape 4"/>
          <p:cNvSpPr/>
          <p:nvPr/>
        </p:nvSpPr>
        <p:spPr>
          <a:xfrm>
            <a:off x="7107174" y="1554480"/>
            <a:ext cx="1696212" cy="3657600"/>
          </a:xfrm>
          <a:prstGeom prst="roundRect">
            <a:avLst>
              <a:gd name="adj" fmla="val 6469"/>
            </a:avLst>
          </a:prstGeom>
          <a:solidFill>
            <a:srgbClr val="252525"/>
          </a:solidFill>
          <a:ln/>
          <a:effectLst>
            <a:outerShdw blurRad="101600" dist="38100" dir="2700000" algn="bl" rotWithShape="0">
              <a:srgbClr val="000000">
                <a:alpha val="35000"/>
              </a:srgbClr>
            </a:outerShdw>
          </a:effectLst>
        </p:spPr>
      </p:sp>
      <p:pic>
        <p:nvPicPr>
          <p:cNvPr id="10" name="Image 3" descr="images/1783530068720_image.png"/>
          <p:cNvPicPr>
            <a:picLocks noChangeAspect="1"/>
          </p:cNvPicPr>
          <p:nvPr/>
        </p:nvPicPr>
        <p:blipFill>
          <a:blip r:embed="rId6"/>
          <a:stretch>
            <a:fillRect/>
          </a:stretch>
        </p:blipFill>
        <p:spPr>
          <a:xfrm>
            <a:off x="7152894" y="1600200"/>
            <a:ext cx="1604772" cy="3566160"/>
          </a:xfrm>
          <a:prstGeom prst="rect">
            <a:avLst/>
          </a:prstGeom>
        </p:spPr>
      </p:pic>
      <p:sp>
        <p:nvSpPr>
          <p:cNvPr id="11" name="Shape 5"/>
          <p:cNvSpPr/>
          <p:nvPr/>
        </p:nvSpPr>
        <p:spPr>
          <a:xfrm>
            <a:off x="8967978" y="1554480"/>
            <a:ext cx="1696212" cy="3657600"/>
          </a:xfrm>
          <a:prstGeom prst="roundRect">
            <a:avLst>
              <a:gd name="adj" fmla="val 6469"/>
            </a:avLst>
          </a:prstGeom>
          <a:solidFill>
            <a:srgbClr val="252525"/>
          </a:solidFill>
          <a:ln/>
          <a:effectLst>
            <a:outerShdw blurRad="101600" dist="38100" dir="2700000" algn="bl" rotWithShape="0">
              <a:srgbClr val="000000">
                <a:alpha val="35000"/>
              </a:srgbClr>
            </a:outerShdw>
          </a:effectLst>
        </p:spPr>
      </p:sp>
      <p:pic>
        <p:nvPicPr>
          <p:cNvPr id="12" name="Image 4" descr="images/1783530081679_image.png"/>
          <p:cNvPicPr>
            <a:picLocks noChangeAspect="1"/>
          </p:cNvPicPr>
          <p:nvPr/>
        </p:nvPicPr>
        <p:blipFill>
          <a:blip r:embed="rId7"/>
          <a:stretch>
            <a:fillRect/>
          </a:stretch>
        </p:blipFill>
        <p:spPr>
          <a:xfrm>
            <a:off x="9013698" y="1600200"/>
            <a:ext cx="1604772" cy="3566160"/>
          </a:xfrm>
          <a:prstGeom prst="rect">
            <a:avLst/>
          </a:prstGeom>
        </p:spPr>
      </p:pic>
      <p:sp>
        <p:nvSpPr>
          <p:cNvPr id="13" name="Text 6"/>
          <p:cNvSpPr/>
          <p:nvPr/>
        </p:nvSpPr>
        <p:spPr>
          <a:xfrm>
            <a:off x="548640" y="5440680"/>
            <a:ext cx="11064240" cy="457200"/>
          </a:xfrm>
          <a:prstGeom prst="rect">
            <a:avLst/>
          </a:prstGeom>
          <a:noFill/>
          <a:ln/>
        </p:spPr>
        <p:txBody>
          <a:bodyPr wrap="square" lIns="0" tIns="0" rIns="0" bIns="0" rtlCol="0" anchor="ctr"/>
          <a:lstStyle/>
          <a:p>
            <a:pPr marL="0" indent="0" algn="ctr">
              <a:buNone/>
            </a:pPr>
            <a:r>
              <a:rPr lang="en-US" sz="1400" b="1" dirty="0">
                <a:solidFill>
                  <a:srgbClr val="FFC300"/>
                </a:solidFill>
                <a:latin typeface="Calibri" pitchFamily="34" charset="0"/>
                <a:ea typeface="Calibri" pitchFamily="34" charset="-122"/>
                <a:cs typeface="Calibri" pitchFamily="34" charset="-120"/>
              </a:rPr>
              <a:t>Login   •   Dashboard   •   Tambah Workout   •   Progress Weight   •   Grafik   •   Progress Photo</a:t>
            </a:r>
            <a:endParaRPr lang="en-US" sz="1400" dirty="0"/>
          </a:p>
        </p:txBody>
      </p:sp>
      <p:sp>
        <p:nvSpPr>
          <p:cNvPr id="14" name="Text 7"/>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15" name="Text 8"/>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21212"/>
        </a:solidFill>
        <a:effectLst/>
      </p:bgPr>
    </p:bg>
    <p:spTree>
      <p:nvGrpSpPr>
        <p:cNvPr id="1" name=""/>
        <p:cNvGrpSpPr/>
        <p:nvPr/>
      </p:nvGrpSpPr>
      <p:grpSpPr>
        <a:xfrm>
          <a:off x="0" y="0"/>
          <a:ext cx="0" cy="0"/>
          <a:chOff x="0" y="0"/>
          <a:chExt cx="0" cy="0"/>
        </a:xfrm>
      </p:grpSpPr>
      <p:pic>
        <p:nvPicPr>
          <p:cNvPr id="2" name="Image 0" descr="icons/dumbbell_gold.png"/>
          <p:cNvPicPr>
            <a:picLocks noChangeAspect="1"/>
          </p:cNvPicPr>
          <p:nvPr/>
        </p:nvPicPr>
        <p:blipFill>
          <a:blip r:embed="rId3"/>
          <a:stretch>
            <a:fillRect/>
          </a:stretch>
        </p:blipFill>
        <p:spPr>
          <a:xfrm>
            <a:off x="5728716" y="502920"/>
            <a:ext cx="731520" cy="731520"/>
          </a:xfrm>
          <a:prstGeom prst="rect">
            <a:avLst/>
          </a:prstGeom>
        </p:spPr>
      </p:pic>
      <p:sp>
        <p:nvSpPr>
          <p:cNvPr id="3" name="Text 0"/>
          <p:cNvSpPr/>
          <p:nvPr/>
        </p:nvSpPr>
        <p:spPr>
          <a:xfrm>
            <a:off x="0" y="1280160"/>
            <a:ext cx="12188952"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Kesimpulan</a:t>
            </a:r>
            <a:endParaRPr lang="en-US" sz="3400" dirty="0"/>
          </a:p>
        </p:txBody>
      </p:sp>
      <p:pic>
        <p:nvPicPr>
          <p:cNvPr id="4" name="Image 1" descr="icons/check_gold.png"/>
          <p:cNvPicPr>
            <a:picLocks noChangeAspect="1"/>
          </p:cNvPicPr>
          <p:nvPr/>
        </p:nvPicPr>
        <p:blipFill>
          <a:blip r:embed="rId4"/>
          <a:stretch>
            <a:fillRect/>
          </a:stretch>
        </p:blipFill>
        <p:spPr>
          <a:xfrm>
            <a:off x="2162556" y="2212848"/>
            <a:ext cx="310896" cy="310896"/>
          </a:xfrm>
          <a:prstGeom prst="rect">
            <a:avLst/>
          </a:prstGeom>
        </p:spPr>
      </p:pic>
      <p:sp>
        <p:nvSpPr>
          <p:cNvPr id="5" name="Text 1"/>
          <p:cNvSpPr/>
          <p:nvPr/>
        </p:nvSpPr>
        <p:spPr>
          <a:xfrm>
            <a:off x="2711196" y="2148840"/>
            <a:ext cx="6766560" cy="457200"/>
          </a:xfrm>
          <a:prstGeom prst="rect">
            <a:avLst/>
          </a:prstGeom>
          <a:noFill/>
          <a:ln/>
        </p:spPr>
        <p:txBody>
          <a:bodyPr wrap="square" lIns="0" tIns="0" rIns="0" bIns="0" rtlCol="0" anchor="ctr"/>
          <a:lstStyle/>
          <a:p>
            <a:pPr marL="0" indent="0">
              <a:buNone/>
            </a:pPr>
            <a:r>
              <a:rPr lang="en-US" sz="1600" dirty="0">
                <a:solidFill>
                  <a:srgbClr val="C9C9C9"/>
                </a:solidFill>
                <a:latin typeface="Calibri" pitchFamily="34" charset="0"/>
                <a:ea typeface="Calibri" pitchFamily="34" charset="-122"/>
                <a:cs typeface="Calibri" pitchFamily="34" charset="-120"/>
              </a:rPr>
              <a:t>Berhasil membangun aplikasi menggunakan Flutter.</a:t>
            </a:r>
            <a:endParaRPr lang="en-US" sz="1600" dirty="0"/>
          </a:p>
        </p:txBody>
      </p:sp>
      <p:pic>
        <p:nvPicPr>
          <p:cNvPr id="6" name="Image 2" descr="icons/check_gold.png"/>
          <p:cNvPicPr>
            <a:picLocks noChangeAspect="1"/>
          </p:cNvPicPr>
          <p:nvPr/>
        </p:nvPicPr>
        <p:blipFill>
          <a:blip r:embed="rId4"/>
          <a:stretch>
            <a:fillRect/>
          </a:stretch>
        </p:blipFill>
        <p:spPr>
          <a:xfrm>
            <a:off x="2162556" y="2834640"/>
            <a:ext cx="310896" cy="310896"/>
          </a:xfrm>
          <a:prstGeom prst="rect">
            <a:avLst/>
          </a:prstGeom>
        </p:spPr>
      </p:pic>
      <p:sp>
        <p:nvSpPr>
          <p:cNvPr id="7" name="Text 2"/>
          <p:cNvSpPr/>
          <p:nvPr/>
        </p:nvSpPr>
        <p:spPr>
          <a:xfrm>
            <a:off x="2711196" y="2770632"/>
            <a:ext cx="6766560" cy="457200"/>
          </a:xfrm>
          <a:prstGeom prst="rect">
            <a:avLst/>
          </a:prstGeom>
          <a:noFill/>
          <a:ln/>
        </p:spPr>
        <p:txBody>
          <a:bodyPr wrap="square" lIns="0" tIns="0" rIns="0" bIns="0" rtlCol="0" anchor="ctr"/>
          <a:lstStyle/>
          <a:p>
            <a:pPr marL="0" indent="0">
              <a:buNone/>
            </a:pPr>
            <a:r>
              <a:rPr lang="en-US" sz="1600" dirty="0">
                <a:solidFill>
                  <a:srgbClr val="C9C9C9"/>
                </a:solidFill>
                <a:latin typeface="Calibri" pitchFamily="34" charset="0"/>
                <a:ea typeface="Calibri" pitchFamily="34" charset="-122"/>
                <a:cs typeface="Calibri" pitchFamily="34" charset="-120"/>
              </a:rPr>
              <a:t>Menerapkan konsep Mobile Computing.</a:t>
            </a:r>
            <a:endParaRPr lang="en-US" sz="1600" dirty="0"/>
          </a:p>
        </p:txBody>
      </p:sp>
      <p:pic>
        <p:nvPicPr>
          <p:cNvPr id="8" name="Image 3" descr="icons/check_gold.png"/>
          <p:cNvPicPr>
            <a:picLocks noChangeAspect="1"/>
          </p:cNvPicPr>
          <p:nvPr/>
        </p:nvPicPr>
        <p:blipFill>
          <a:blip r:embed="rId4"/>
          <a:stretch>
            <a:fillRect/>
          </a:stretch>
        </p:blipFill>
        <p:spPr>
          <a:xfrm>
            <a:off x="2162556" y="3456432"/>
            <a:ext cx="310896" cy="310896"/>
          </a:xfrm>
          <a:prstGeom prst="rect">
            <a:avLst/>
          </a:prstGeom>
        </p:spPr>
      </p:pic>
      <p:sp>
        <p:nvSpPr>
          <p:cNvPr id="9" name="Text 3"/>
          <p:cNvSpPr/>
          <p:nvPr/>
        </p:nvSpPr>
        <p:spPr>
          <a:xfrm>
            <a:off x="2711196" y="3392424"/>
            <a:ext cx="6766560" cy="457200"/>
          </a:xfrm>
          <a:prstGeom prst="rect">
            <a:avLst/>
          </a:prstGeom>
          <a:noFill/>
          <a:ln/>
        </p:spPr>
        <p:txBody>
          <a:bodyPr wrap="square" lIns="0" tIns="0" rIns="0" bIns="0" rtlCol="0" anchor="ctr"/>
          <a:lstStyle/>
          <a:p>
            <a:pPr marL="0" indent="0">
              <a:buNone/>
            </a:pPr>
            <a:r>
              <a:rPr lang="en-US" sz="1600" dirty="0">
                <a:solidFill>
                  <a:srgbClr val="C9C9C9"/>
                </a:solidFill>
                <a:latin typeface="Calibri" pitchFamily="34" charset="0"/>
                <a:ea typeface="Calibri" pitchFamily="34" charset="-122"/>
                <a:cs typeface="Calibri" pitchFamily="34" charset="-120"/>
              </a:rPr>
              <a:t>Menggunakan penyimpanan lokal.</a:t>
            </a:r>
            <a:endParaRPr lang="en-US" sz="1600" dirty="0"/>
          </a:p>
        </p:txBody>
      </p:sp>
      <p:pic>
        <p:nvPicPr>
          <p:cNvPr id="10" name="Image 4" descr="icons/check_gold.png"/>
          <p:cNvPicPr>
            <a:picLocks noChangeAspect="1"/>
          </p:cNvPicPr>
          <p:nvPr/>
        </p:nvPicPr>
        <p:blipFill>
          <a:blip r:embed="rId4"/>
          <a:stretch>
            <a:fillRect/>
          </a:stretch>
        </p:blipFill>
        <p:spPr>
          <a:xfrm>
            <a:off x="2162556" y="4078224"/>
            <a:ext cx="310896" cy="310896"/>
          </a:xfrm>
          <a:prstGeom prst="rect">
            <a:avLst/>
          </a:prstGeom>
        </p:spPr>
      </p:pic>
      <p:sp>
        <p:nvSpPr>
          <p:cNvPr id="11" name="Text 4"/>
          <p:cNvSpPr/>
          <p:nvPr/>
        </p:nvSpPr>
        <p:spPr>
          <a:xfrm>
            <a:off x="2711196" y="4014216"/>
            <a:ext cx="6766560" cy="457200"/>
          </a:xfrm>
          <a:prstGeom prst="rect">
            <a:avLst/>
          </a:prstGeom>
          <a:noFill/>
          <a:ln/>
        </p:spPr>
        <p:txBody>
          <a:bodyPr wrap="square" lIns="0" tIns="0" rIns="0" bIns="0" rtlCol="0" anchor="ctr"/>
          <a:lstStyle/>
          <a:p>
            <a:pPr marL="0" indent="0">
              <a:buNone/>
            </a:pPr>
            <a:r>
              <a:rPr lang="en-US" sz="1600" dirty="0">
                <a:solidFill>
                  <a:srgbClr val="C9C9C9"/>
                </a:solidFill>
                <a:latin typeface="Calibri" pitchFamily="34" charset="0"/>
                <a:ea typeface="Calibri" pitchFamily="34" charset="-122"/>
                <a:cs typeface="Calibri" pitchFamily="34" charset="-120"/>
              </a:rPr>
              <a:t>Memanfaatkan hardware smartphone.</a:t>
            </a:r>
            <a:endParaRPr lang="en-US" sz="1600" dirty="0"/>
          </a:p>
        </p:txBody>
      </p:sp>
      <p:pic>
        <p:nvPicPr>
          <p:cNvPr id="12" name="Image 5" descr="icons/check_gold.png"/>
          <p:cNvPicPr>
            <a:picLocks noChangeAspect="1"/>
          </p:cNvPicPr>
          <p:nvPr/>
        </p:nvPicPr>
        <p:blipFill>
          <a:blip r:embed="rId4"/>
          <a:stretch>
            <a:fillRect/>
          </a:stretch>
        </p:blipFill>
        <p:spPr>
          <a:xfrm>
            <a:off x="2162556" y="4700016"/>
            <a:ext cx="310896" cy="310896"/>
          </a:xfrm>
          <a:prstGeom prst="rect">
            <a:avLst/>
          </a:prstGeom>
        </p:spPr>
      </p:pic>
      <p:sp>
        <p:nvSpPr>
          <p:cNvPr id="13" name="Text 5"/>
          <p:cNvSpPr/>
          <p:nvPr/>
        </p:nvSpPr>
        <p:spPr>
          <a:xfrm>
            <a:off x="2711196" y="4636008"/>
            <a:ext cx="6766560" cy="457200"/>
          </a:xfrm>
          <a:prstGeom prst="rect">
            <a:avLst/>
          </a:prstGeom>
          <a:noFill/>
          <a:ln/>
        </p:spPr>
        <p:txBody>
          <a:bodyPr wrap="square" lIns="0" tIns="0" rIns="0" bIns="0" rtlCol="0" anchor="ctr"/>
          <a:lstStyle/>
          <a:p>
            <a:pPr marL="0" indent="0">
              <a:buNone/>
            </a:pPr>
            <a:r>
              <a:rPr lang="en-US" sz="1600" dirty="0">
                <a:solidFill>
                  <a:srgbClr val="C9C9C9"/>
                </a:solidFill>
                <a:latin typeface="Calibri" pitchFamily="34" charset="0"/>
                <a:ea typeface="Calibri" pitchFamily="34" charset="-122"/>
                <a:cs typeface="Calibri" pitchFamily="34" charset="-120"/>
              </a:rPr>
              <a:t>Memiliki UI/UX yang sederhana dan mudah digunakan.</a:t>
            </a:r>
            <a:endParaRPr lang="en-US" sz="1600" dirty="0"/>
          </a:p>
        </p:txBody>
      </p:sp>
      <p:sp>
        <p:nvSpPr>
          <p:cNvPr id="14" name="Shape 6"/>
          <p:cNvSpPr/>
          <p:nvPr/>
        </p:nvSpPr>
        <p:spPr>
          <a:xfrm>
            <a:off x="4997196" y="5440680"/>
            <a:ext cx="2194560" cy="0"/>
          </a:xfrm>
          <a:prstGeom prst="line">
            <a:avLst/>
          </a:prstGeom>
          <a:noFill/>
          <a:ln w="12700">
            <a:solidFill>
              <a:srgbClr val="3A3A3A"/>
            </a:solidFill>
            <a:prstDash val="solid"/>
          </a:ln>
        </p:spPr>
      </p:sp>
      <p:sp>
        <p:nvSpPr>
          <p:cNvPr id="15" name="Text 7"/>
          <p:cNvSpPr/>
          <p:nvPr/>
        </p:nvSpPr>
        <p:spPr>
          <a:xfrm>
            <a:off x="0" y="5623560"/>
            <a:ext cx="12188952" cy="502920"/>
          </a:xfrm>
          <a:prstGeom prst="rect">
            <a:avLst/>
          </a:prstGeom>
          <a:noFill/>
          <a:ln/>
        </p:spPr>
        <p:txBody>
          <a:bodyPr wrap="square" lIns="0" tIns="0" rIns="0" bIns="0" rtlCol="0" anchor="ctr"/>
          <a:lstStyle/>
          <a:p>
            <a:pPr marL="0" indent="0" algn="ctr">
              <a:buNone/>
            </a:pPr>
            <a:r>
              <a:rPr lang="en-US" sz="2000" b="1" dirty="0">
                <a:solidFill>
                  <a:srgbClr val="FFC300"/>
                </a:solidFill>
                <a:latin typeface="Cambria" pitchFamily="34" charset="0"/>
                <a:ea typeface="Cambria" pitchFamily="34" charset="-122"/>
                <a:cs typeface="Cambria" pitchFamily="34" charset="-120"/>
              </a:rPr>
              <a:t>Terima Kasih</a:t>
            </a:r>
            <a:endParaRPr lang="en-US" sz="2000" dirty="0"/>
          </a:p>
        </p:txBody>
      </p:sp>
      <p:sp>
        <p:nvSpPr>
          <p:cNvPr id="16" name="Text 8"/>
          <p:cNvSpPr/>
          <p:nvPr/>
        </p:nvSpPr>
        <p:spPr>
          <a:xfrm>
            <a:off x="457200" y="6446520"/>
            <a:ext cx="6400800" cy="274320"/>
          </a:xfrm>
          <a:prstGeom prst="rect">
            <a:avLst/>
          </a:prstGeom>
          <a:noFill/>
          <a:ln/>
        </p:spPr>
        <p:txBody>
          <a:bodyPr wrap="square" lIns="0" tIns="0" rIns="0" bIns="0"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FitSphere — Gym Tracker &amp; Progress Log</a:t>
            </a:r>
            <a:endParaRPr lang="en-US" sz="900" dirty="0"/>
          </a:p>
        </p:txBody>
      </p:sp>
      <p:sp>
        <p:nvSpPr>
          <p:cNvPr id="17" name="Text 9"/>
          <p:cNvSpPr/>
          <p:nvPr/>
        </p:nvSpPr>
        <p:spPr>
          <a:xfrm>
            <a:off x="11274552"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725</Words>
  <Application>Microsoft Office PowerPoint</Application>
  <PresentationFormat>Widescreen</PresentationFormat>
  <Paragraphs>112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FitSphere - UAS Mobile Computing</dc:title>
  <dc:subject>PptxGenJS Presentation</dc:subject>
  <dc:creator>Mahasiswa</dc:creator>
  <cp:lastModifiedBy>Adam Wisnu</cp:lastModifiedBy>
  <cp:revision>3</cp:revision>
  <dcterms:created xsi:type="dcterms:W3CDTF">2026-07-08T17:03:35Z</dcterms:created>
  <dcterms:modified xsi:type="dcterms:W3CDTF">2026-07-09T02:00:48Z</dcterms:modified>
</cp:coreProperties>
</file>